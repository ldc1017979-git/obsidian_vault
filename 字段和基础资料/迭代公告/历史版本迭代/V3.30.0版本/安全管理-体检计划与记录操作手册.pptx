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312" r:id="rId6"/>
    <p:sldId id="321" r:id="rId7"/>
    <p:sldId id="316" r:id="rId8"/>
    <p:sldId id="309" r:id="rId9"/>
    <p:sldId id="313" r:id="rId10"/>
    <p:sldId id="320" r:id="rId11"/>
    <p:sldId id="322" r:id="rId12"/>
    <p:sldId id="295" r:id="rId13"/>
    <p:sldId id="30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17.png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76327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体检计划与记录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3.30.0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26161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111818"/>
            <a:ext cx="627095" cy="522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12737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体检计划操作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37140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386648"/>
            <a:ext cx="1503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业务概述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285286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2868103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员工体检记录与结果</a:t>
            </a:r>
            <a:r>
              <a:rPr lang="en-US" altLang="zh-C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131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业务概述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数据业务流程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775335"/>
            <a:ext cx="3345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体检业务分为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常规体检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职业病体检</a:t>
            </a:r>
            <a:endParaRPr lang="zh-CN" altLang="en-US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86280" y="4260850"/>
            <a:ext cx="11582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职业病体检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07760" y="4260850"/>
            <a:ext cx="11582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常规体检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960" y="1208405"/>
            <a:ext cx="6736080" cy="2988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131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业务概述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基础数据维护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775335"/>
            <a:ext cx="79876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使用前需先维护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【人员档案库】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【接触职业危害因素项目】</a:t>
            </a:r>
            <a:endParaRPr lang="zh-CN" altLang="en-US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8440" y="3540760"/>
            <a:ext cx="11582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人员档案库</a:t>
            </a:r>
            <a:endParaRPr lang="zh-CN" altLang="en-US" sz="1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7360" y="3540760"/>
            <a:ext cx="20929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接触职业危害因素项目</a:t>
            </a:r>
            <a:endParaRPr lang="zh-CN" altLang="en-US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" y="1386205"/>
            <a:ext cx="3347085" cy="206756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05" y="1386205"/>
            <a:ext cx="3241675" cy="20605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784860" y="3847465"/>
            <a:ext cx="27343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9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功能模块由行政人事管理，包含人员工号、姓名、部门、岗位相关的信息，以及人员状态在职、异动、离职信息</a:t>
            </a:r>
            <a:endParaRPr lang="zh-CN" altLang="en-US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60645" y="3847465"/>
            <a:ext cx="28657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9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功能模块由安全管理，通过工种类型对岗位分类，定义岗位的职业病危害因素、来源、体检项目信息</a:t>
            </a:r>
            <a:endParaRPr lang="zh-CN" altLang="en-US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4615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1.3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业务概述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职业病基础维护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650875"/>
            <a:ext cx="4154170" cy="11474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528320" y="649605"/>
            <a:ext cx="4166235" cy="1159510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" y="1016000"/>
            <a:ext cx="4162425" cy="1473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55" y="1919605"/>
            <a:ext cx="4985385" cy="175514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460" y="3244215"/>
            <a:ext cx="5588635" cy="169735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10" name="直接箭头连接符 9"/>
          <p:cNvCxnSpPr/>
          <p:nvPr/>
        </p:nvCxnSpPr>
        <p:spPr>
          <a:xfrm>
            <a:off x="2528570" y="1444625"/>
            <a:ext cx="0" cy="67691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102610" y="4328160"/>
            <a:ext cx="5447665" cy="1689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782310" y="1976120"/>
            <a:ext cx="2912110" cy="222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新增工种岗位的职业病危害因素和体检项目信息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628005" y="198247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82310" y="2460625"/>
            <a:ext cx="2912110" cy="222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工种类型配置后，列表可查看相应岗位人员数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628005" y="246697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4022090" y="2066290"/>
            <a:ext cx="1605915" cy="895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4909185" y="2683510"/>
            <a:ext cx="831850" cy="16306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88365" y="1221740"/>
            <a:ext cx="3280410" cy="222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37895" y="1173480"/>
            <a:ext cx="32308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/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接触职业危害因素项目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数据表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对照关系</a:t>
            </a:r>
            <a:endParaRPr lang="zh-CN" altLang="en-US" sz="1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3745658" y="285286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4763093" y="2868103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员工体检记录与结果</a:t>
            </a:r>
            <a:r>
              <a:rPr lang="en-US" altLang="zh-C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91179" y="201663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745658" y="2111818"/>
            <a:ext cx="627095" cy="522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763093" y="212737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体检计划操作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3745658" y="1371408"/>
            <a:ext cx="577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763093" y="1386648"/>
            <a:ext cx="1503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业务概述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8105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675" y="826135"/>
            <a:ext cx="49447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创建体检计划：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常规体检、职业病体检</a:t>
            </a:r>
            <a:endParaRPr lang="zh-CN" altLang="en-US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675" y="1408430"/>
            <a:ext cx="5372735" cy="20440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5993765" y="1820545"/>
            <a:ext cx="2675255" cy="384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选择体检日期、填写体检机构，报告编号非必填，可在计划最后提审时补充完整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  <a:p>
            <a:pPr indent="0" algn="l" defTabSz="0" fontAlgn="auto">
              <a:lnSpc>
                <a:spcPct val="100000"/>
              </a:lnSpc>
            </a:pP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837555" y="190817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93765" y="2307590"/>
            <a:ext cx="2675255" cy="257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选择体检项目类型：常规体检和职业病体检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837555" y="232537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93765" y="2697480"/>
            <a:ext cx="2675255" cy="257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选择职业病体检时，需选择工种类型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837555" y="271526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993765" y="3110230"/>
            <a:ext cx="2675255" cy="552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系统根据接触职业危害因素项目的工种信息，获取当前人员档案当前岗位在职人员和标配人员信息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837555" y="312801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6" name="肘形连接符 35"/>
          <p:cNvCxnSpPr>
            <a:stCxn id="13" idx="2"/>
          </p:cNvCxnSpPr>
          <p:nvPr/>
        </p:nvCxnSpPr>
        <p:spPr>
          <a:xfrm rot="10800000" flipV="1">
            <a:off x="3189605" y="2012315"/>
            <a:ext cx="2647315" cy="113665"/>
          </a:xfrm>
          <a:prstGeom prst="bentConnector3">
            <a:avLst>
              <a:gd name="adj1" fmla="val 99952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5" idx="2"/>
          </p:cNvCxnSpPr>
          <p:nvPr/>
        </p:nvCxnSpPr>
        <p:spPr>
          <a:xfrm flipH="1">
            <a:off x="3834130" y="2430145"/>
            <a:ext cx="2003425" cy="304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肘形连接符 39"/>
          <p:cNvCxnSpPr/>
          <p:nvPr/>
        </p:nvCxnSpPr>
        <p:spPr>
          <a:xfrm rot="10800000">
            <a:off x="1163955" y="2633345"/>
            <a:ext cx="4673600" cy="186055"/>
          </a:xfrm>
          <a:prstGeom prst="bentConnector3">
            <a:avLst>
              <a:gd name="adj1" fmla="val 99986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1691005" y="3217545"/>
            <a:ext cx="4146550" cy="114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7917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体检计划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人员体检结果信息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" y="1852295"/>
            <a:ext cx="5921375" cy="30511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" y="690880"/>
            <a:ext cx="5521325" cy="10706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5476875" y="1496695"/>
            <a:ext cx="389255" cy="2171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93765" y="1416685"/>
            <a:ext cx="2675255" cy="208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创建计划后，编辑更新计划内体检信息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837555" y="141668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59560" y="2954655"/>
            <a:ext cx="3470910" cy="208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获取工种所有人员信息，支持添加非该工种其他岗位人员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03350" y="295465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1645" y="3063875"/>
            <a:ext cx="942340" cy="15303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534535" y="3216910"/>
            <a:ext cx="1684020" cy="11353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764405" y="4036695"/>
            <a:ext cx="1424940" cy="208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填写员工体检结论信息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637405" y="403669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39190" y="4406265"/>
            <a:ext cx="1784985" cy="208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上传体检报告相关附件信息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82980" y="440626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1010" y="4462780"/>
            <a:ext cx="521335" cy="192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肘形连接符 20"/>
          <p:cNvCxnSpPr/>
          <p:nvPr/>
        </p:nvCxnSpPr>
        <p:spPr>
          <a:xfrm>
            <a:off x="1277620" y="2023110"/>
            <a:ext cx="5599430" cy="2610485"/>
          </a:xfrm>
          <a:prstGeom prst="bentConnector3">
            <a:avLst>
              <a:gd name="adj1" fmla="val 93297"/>
            </a:avLst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047230" y="4462780"/>
            <a:ext cx="2002155" cy="368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所有信息确认无误后提审，审批通过后</a:t>
            </a:r>
            <a:r>
              <a:rPr lang="zh-CN" altLang="en-US" sz="10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生成体检记录与结果</a:t>
            </a:r>
            <a:endParaRPr lang="zh-CN" altLang="en-US" sz="1000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91020" y="453390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5671820" y="1713865"/>
            <a:ext cx="0" cy="29464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591179" y="275767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3745658" y="285286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4763093" y="2868103"/>
            <a:ext cx="32531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员工体检记录与结果</a:t>
            </a:r>
            <a:r>
              <a: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745658" y="21118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4763093" y="212737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体检计划操作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3745658" y="1371408"/>
            <a:ext cx="5778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763093" y="1386648"/>
            <a:ext cx="1503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业务概述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6569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员工体检记录与结果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0675" y="775335"/>
            <a:ext cx="46653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/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数据添加方式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【直接新增】</a:t>
            </a:r>
            <a:r>
              <a:rPr lang="zh-CN" altLang="en-US" sz="1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【体检计划】完成后生成</a:t>
            </a:r>
            <a:endParaRPr lang="zh-CN" altLang="en-US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" y="1159510"/>
            <a:ext cx="8552180" cy="26466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323850" y="2571750"/>
            <a:ext cx="2491105" cy="5048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323850" y="3203575"/>
            <a:ext cx="2491105" cy="5187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564640" y="2701925"/>
            <a:ext cx="92519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9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来源计划生成</a:t>
            </a:r>
            <a:endParaRPr lang="zh-CN" altLang="en-US" sz="900" b="1" kern="10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564640" y="3347720"/>
            <a:ext cx="92519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9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来源直接新增</a:t>
            </a:r>
            <a:endParaRPr lang="zh-CN" altLang="en-US" sz="900" b="1" kern="10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28" name="矩形 27"/>
          <p:cNvSpPr/>
          <p:nvPr>
            <p:custDataLst>
              <p:tags r:id="rId4"/>
            </p:custDataLst>
          </p:nvPr>
        </p:nvSpPr>
        <p:spPr>
          <a:xfrm>
            <a:off x="252730" y="2038985"/>
            <a:ext cx="967105" cy="2482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396365" y="1826260"/>
            <a:ext cx="1929130" cy="212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直接新增数据，支持批量导入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240155" y="1826260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725" y="2388870"/>
            <a:ext cx="5126355" cy="262826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3" name="矩形 32"/>
          <p:cNvSpPr/>
          <p:nvPr>
            <p:custDataLst>
              <p:tags r:id="rId6"/>
            </p:custDataLst>
          </p:nvPr>
        </p:nvSpPr>
        <p:spPr>
          <a:xfrm>
            <a:off x="3931285" y="2711450"/>
            <a:ext cx="1195705" cy="2197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855845" y="2489835"/>
            <a:ext cx="3930650" cy="212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选择员工，岗位相关信息来源人员档案（车间班组对应四五级组织）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4699635" y="248983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09185" y="3203575"/>
            <a:ext cx="2191385" cy="212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选择体检项目，填写体检结果信息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4752975" y="320357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矩形 37"/>
          <p:cNvSpPr/>
          <p:nvPr>
            <p:custDataLst>
              <p:tags r:id="rId7"/>
            </p:custDataLst>
          </p:nvPr>
        </p:nvSpPr>
        <p:spPr>
          <a:xfrm>
            <a:off x="3931285" y="3422650"/>
            <a:ext cx="5010785" cy="6457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8"/>
            </p:custDataLst>
          </p:nvPr>
        </p:nvSpPr>
        <p:spPr>
          <a:xfrm>
            <a:off x="3931285" y="4195445"/>
            <a:ext cx="574675" cy="20383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699635" y="4171315"/>
            <a:ext cx="1267460" cy="212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上传体检结果附件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543425" y="417131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879975" y="4779645"/>
            <a:ext cx="826135" cy="2120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7950" tIns="36195" rIns="36195" bIns="36195">
            <a:noAutofit/>
          </a:bodyPr>
          <a:p>
            <a:pPr indent="0" algn="l" defTabSz="0" fontAlgn="auto">
              <a:lnSpc>
                <a:spcPct val="100000"/>
              </a:lnSpc>
            </a:pPr>
            <a:r>
              <a:rPr lang="zh-CN" altLang="en-US" sz="1000" kern="100" dirty="0">
                <a:solidFill>
                  <a:srgbClr val="1C53D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江城圆体 400W" panose="020B0500000000000000" pitchFamily="34" charset="-122"/>
                <a:sym typeface="+mn-ea"/>
              </a:rPr>
              <a:t>提交完成</a:t>
            </a:r>
            <a:endParaRPr lang="zh-CN" altLang="en-US" sz="1000" kern="100" dirty="0">
              <a:solidFill>
                <a:srgbClr val="1C53D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江城圆体 400W" panose="020B0500000000000000" pitchFamily="34" charset="-122"/>
              <a:sym typeface="+mn-ea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723765" y="4779645"/>
            <a:ext cx="209550" cy="209550"/>
          </a:xfrm>
          <a:prstGeom prst="ellipse">
            <a:avLst/>
          </a:prstGeom>
          <a:solidFill>
            <a:srgbClr val="1C5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4" name="矩形 43"/>
          <p:cNvSpPr/>
          <p:nvPr>
            <p:custDataLst>
              <p:tags r:id="rId9"/>
            </p:custDataLst>
          </p:nvPr>
        </p:nvSpPr>
        <p:spPr>
          <a:xfrm>
            <a:off x="3931285" y="4779645"/>
            <a:ext cx="793115" cy="20383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肘形连接符 44"/>
          <p:cNvCxnSpPr>
            <a:stCxn id="28" idx="2"/>
            <a:endCxn id="33" idx="0"/>
          </p:cNvCxnSpPr>
          <p:nvPr/>
        </p:nvCxnSpPr>
        <p:spPr>
          <a:xfrm rot="5400000" flipV="1">
            <a:off x="2420620" y="602615"/>
            <a:ext cx="424180" cy="3792855"/>
          </a:xfrm>
          <a:prstGeom prst="bentConnector3">
            <a:avLst>
              <a:gd name="adj1" fmla="val 48727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4888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体检计划与记录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3.30.0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2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3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4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5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6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7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8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9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0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1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2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3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4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5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6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7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8.xml><?xml version="1.0" encoding="utf-8"?>
<p:tagLst xmlns:p="http://schemas.openxmlformats.org/presentationml/2006/main">
  <p:tag name="KSO_WM_DIAGRAM_VIRTUALLY_FRAME" val="{&quot;height&quot;:310.3,&quot;left&quot;:294.93370078740156,&quot;top&quot;:23.68488188976378,&quot;width&quot;:336.2629921259842}"/>
</p:tagLst>
</file>

<file path=ppt/tags/tag19.xml><?xml version="1.0" encoding="utf-8"?>
<p:tagLst xmlns:p="http://schemas.openxmlformats.org/presentationml/2006/main">
  <p:tag name="KSO_WM_DIAGRAM_VIRTUALLY_FRAME" val="{&quot;height&quot;:116.3,&quot;left&quot;:25.5,&quot;top&quot;:201.4,&quot;width&quot;:207.75}"/>
</p:tagLst>
</file>

<file path=ppt/tags/tag20.xml><?xml version="1.0" encoding="utf-8"?>
<p:tagLst xmlns:p="http://schemas.openxmlformats.org/presentationml/2006/main">
  <p:tag name="KSO_WM_DIAGRAM_VIRTUALLY_FRAME" val="{&quot;height&quot;:116.3,&quot;left&quot;:25.5,&quot;top&quot;:201.4,&quot;width&quot;:207.75}"/>
</p:tagLst>
</file>

<file path=ppt/tags/tag21.xml><?xml version="1.0" encoding="utf-8"?>
<p:tagLst xmlns:p="http://schemas.openxmlformats.org/presentationml/2006/main">
  <p:tag name="KSO_WM_DIAGRAM_VIRTUALLY_FRAME" val="{&quot;height&quot;:109.7,&quot;left&quot;:37.1,&quot;top&quot;:208,&quot;width&quot;:196.15}"/>
</p:tagLst>
</file>

<file path=ppt/tags/tag22.xml><?xml version="1.0" encoding="utf-8"?>
<p:tagLst xmlns:p="http://schemas.openxmlformats.org/presentationml/2006/main">
  <p:tag name="KSO_WM_DIAGRAM_VIRTUALLY_FRAME" val="{&quot;height&quot;:109.7,&quot;left&quot;:37.1,&quot;top&quot;:208,&quot;width&quot;:196.15}"/>
</p:tagLst>
</file>

<file path=ppt/tags/tag23.xml><?xml version="1.0" encoding="utf-8"?>
<p:tagLst xmlns:p="http://schemas.openxmlformats.org/presentationml/2006/main">
  <p:tag name="KSO_WM_DIAGRAM_VIRTUALLY_FRAME" val="{&quot;height&quot;:109.7,&quot;left&quot;:37.1,&quot;top&quot;:208,&quot;width&quot;:196.15}"/>
</p:tagLst>
</file>

<file path=ppt/tags/tag24.xml><?xml version="1.0" encoding="utf-8"?>
<p:tagLst xmlns:p="http://schemas.openxmlformats.org/presentationml/2006/main">
  <p:tag name="KSO_WM_DIAGRAM_VIRTUALLY_FRAME" val="{&quot;height&quot;:109.7,&quot;left&quot;:37.1,&quot;top&quot;:208,&quot;width&quot;:196.15}"/>
</p:tagLst>
</file>

<file path=ppt/tags/tag25.xml><?xml version="1.0" encoding="utf-8"?>
<p:tagLst xmlns:p="http://schemas.openxmlformats.org/presentationml/2006/main">
  <p:tag name="KSO_WM_DIAGRAM_VIRTUALLY_FRAME" val="{&quot;height&quot;:109.7,&quot;left&quot;:37.1,&quot;top&quot;:208,&quot;width&quot;:196.1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969</Words>
  <Application>WPS 演示</Application>
  <PresentationFormat>全屏显示(16:9)</PresentationFormat>
  <Paragraphs>173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江城圆体 400W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陈胡安Juan</cp:lastModifiedBy>
  <cp:revision>122</cp:revision>
  <dcterms:created xsi:type="dcterms:W3CDTF">2025-02-10T02:33:00Z</dcterms:created>
  <dcterms:modified xsi:type="dcterms:W3CDTF">2026-02-04T02:02:21Z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2052-12.1.0.24657</vt:lpwstr>
  </property>
</Properties>
</file>