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2" r:id="rId5"/>
    <p:sldId id="295" r:id="rId6"/>
    <p:sldId id="306" r:id="rId7"/>
    <p:sldId id="291" r:id="rId8"/>
    <p:sldId id="313" r:id="rId9"/>
    <p:sldId id="318" r:id="rId10"/>
    <p:sldId id="319" r:id="rId11"/>
    <p:sldId id="314" r:id="rId12"/>
    <p:sldId id="320" r:id="rId13"/>
    <p:sldId id="321" r:id="rId14"/>
    <p:sldId id="309" r:id="rId15"/>
    <p:sldId id="307" r:id="rId16"/>
    <p:sldId id="315" r:id="rId17"/>
    <p:sldId id="312" r:id="rId18"/>
    <p:sldId id="317" r:id="rId19"/>
    <p:sldId id="305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53D9"/>
    <a:srgbClr val="F7A3A3"/>
    <a:srgbClr val="FDE7E7"/>
    <a:srgbClr val="D95D61"/>
    <a:srgbClr val="DB696D"/>
    <a:srgbClr val="D44D51"/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8" d="100"/>
          <a:sy n="198" d="100"/>
        </p:scale>
        <p:origin x="15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9F60A8-5704-417B-9342-B9521C3015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E847-FC93-470B-B269-6988605DEE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5FEE847-FC93-470B-B269-6988605DEEB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53790A-1444-42BB-A3FD-C54F8913CC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A8752151-84B4-4828-BF39-C01E5203AF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382" y="173076"/>
            <a:ext cx="775853" cy="2596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8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9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tags" Target="../tags/tag3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dist"/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一切以客户为中心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诚信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 </a:t>
            </a:r>
            <a:r>
              <a:rPr lang="en-US" altLang="zh-CN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000" spc="284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奋斗</a:t>
            </a:r>
            <a:endParaRPr lang="zh-CN" altLang="en-US" sz="1000" spc="284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1733014"/>
            <a:ext cx="6184900" cy="675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数智工厂</a:t>
            </a:r>
            <a:r>
              <a:rPr lang="en-US" altLang="zh-CN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设备模块</a:t>
            </a:r>
            <a:r>
              <a:rPr lang="zh-CN" altLang="en-US" sz="3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使用手册</a:t>
            </a:r>
            <a:endParaRPr lang="zh-CN" altLang="en-US" sz="3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2740650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版本号：数智工厂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3.11.0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084279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   间：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590544" y="1100328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3745658" y="2233939"/>
            <a:ext cx="627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4763093" y="2264716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保养计划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745658" y="1210118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763093" y="1225507"/>
            <a:ext cx="226250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设备保养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 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3745658" y="3176914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4763093" y="3207691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设备保养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工单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3745658" y="4120524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04</a:t>
            </a:r>
            <a:endParaRPr lang="zh-CN" altLang="en-US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4763093" y="4151301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备件更换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记录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2670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设备保养项目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450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功能描述：根据设备或岗位，维护保养项目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内容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2670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设备保养项目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5466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功能描述：列表展示当前创建的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保养项目，支持编辑、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删除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34865" y="-1499235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endParaRPr lang="zh-CN" altLang="en-US" sz="3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3590544" y="2138553"/>
            <a:ext cx="5553456" cy="713232"/>
          </a:xfrm>
          <a:prstGeom prst="rect">
            <a:avLst/>
          </a:prstGeom>
          <a:solidFill>
            <a:srgbClr val="1C53D9"/>
          </a:solidFill>
          <a:ln>
            <a:noFill/>
          </a:ln>
          <a:effectLst>
            <a:outerShdw blurRad="63500" dist="25400" dir="5400000" algn="ctr" rotWithShape="0">
              <a:srgbClr val="1C53D9">
                <a:alpha val="4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3745658" y="2233939"/>
            <a:ext cx="577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02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763093" y="2264716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</a:t>
            </a:r>
            <a:r>
              <a: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保养计划</a:t>
            </a:r>
            <a:endParaRPr lang="zh-CN" altLang="en-US" sz="2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3745658" y="1210118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01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763093" y="1225507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设备保养</a:t>
            </a: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3745658" y="3257993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03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7"/>
            </p:custDataLst>
          </p:nvPr>
        </p:nvSpPr>
        <p:spPr>
          <a:xfrm>
            <a:off x="4763093" y="3273382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设备保养</a:t>
            </a: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工单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8"/>
            </p:custDataLst>
          </p:nvPr>
        </p:nvSpPr>
        <p:spPr>
          <a:xfrm>
            <a:off x="3745658" y="4171123"/>
            <a:ext cx="627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04</a:t>
            </a:r>
            <a:endParaRPr lang="en-US" altLang="zh-CN" sz="2800" b="1" dirty="0">
              <a:solidFill>
                <a:srgbClr val="C3C3C3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9"/>
            </p:custDataLst>
          </p:nvPr>
        </p:nvSpPr>
        <p:spPr>
          <a:xfrm>
            <a:off x="4763093" y="4186512"/>
            <a:ext cx="21640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备件</a:t>
            </a:r>
            <a:r>
              <a: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更换记录</a:t>
            </a:r>
            <a:endParaRPr lang="zh-CN" altLang="en-US" sz="2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5694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2.1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设备保养计划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选择保养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450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功能描述：根据岗位或设备的保养周期创建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计划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5694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2.1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设备保养计划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设置保养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周期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450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功能描述：根据岗位或设备的保养周期创建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计划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569468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2.1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设备保养计划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新增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选择保养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内容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450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功能描述：根据岗位或设备的保养周期创建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计划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568450" y="2462530"/>
            <a:ext cx="798830" cy="30734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cxnSp>
        <p:nvCxnSpPr>
          <p:cNvPr id="10" name="直接箭头连接符 9"/>
          <p:cNvCxnSpPr>
            <a:stCxn id="8" idx="3"/>
          </p:cNvCxnSpPr>
          <p:nvPr/>
        </p:nvCxnSpPr>
        <p:spPr>
          <a:xfrm flipV="1">
            <a:off x="2367280" y="2412365"/>
            <a:ext cx="1204595" cy="2038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5693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设备保养计划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653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列表展示当前创建的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计划组，支持编辑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" name="图片 1" descr="screenshot_2025-07-25_15-23-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2297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设备保养计划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计划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2824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功能描述：登记保养执行信息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" name="图片 1" descr="screenshot_2025-07-25_15-23-21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60" y="1781420"/>
            <a:ext cx="7086600" cy="2922270"/>
          </a:xfrm>
          <a:prstGeom prst="rect">
            <a:avLst/>
          </a:prstGeom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7613650" y="3636010"/>
            <a:ext cx="428625" cy="18034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  </a:t>
            </a:r>
            <a:endParaRPr lang="en-US" altLang="zh-CN"/>
          </a:p>
        </p:txBody>
      </p:sp>
      <p:cxnSp>
        <p:nvCxnSpPr>
          <p:cNvPr id="10" name="直接箭头连接符 9"/>
          <p:cNvCxnSpPr>
            <a:stCxn id="8" idx="1"/>
          </p:cNvCxnSpPr>
          <p:nvPr/>
        </p:nvCxnSpPr>
        <p:spPr>
          <a:xfrm flipH="1" flipV="1">
            <a:off x="4860290" y="3161665"/>
            <a:ext cx="2753360" cy="5645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422973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2.2 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设备保养计划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计划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32308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登记保养项的检查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结果</a:t>
            </a:r>
            <a:endParaRPr lang="zh-CN" altLang="en-US" sz="160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58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3590544" y="3056763"/>
            <a:ext cx="5553456" cy="713232"/>
            <a:chOff x="5654" y="3368"/>
            <a:chExt cx="8746" cy="1123"/>
          </a:xfrm>
        </p:grpSpPr>
        <p:sp>
          <p:nvSpPr>
            <p:cNvPr id="7" name="矩形 6"/>
            <p:cNvSpPr/>
            <p:nvPr>
              <p:custDataLst>
                <p:tags r:id="rId2"/>
              </p:custDataLst>
            </p:nvPr>
          </p:nvSpPr>
          <p:spPr>
            <a:xfrm>
              <a:off x="5654" y="3368"/>
              <a:ext cx="8746" cy="1123"/>
            </a:xfrm>
            <a:prstGeom prst="rect">
              <a:avLst/>
            </a:prstGeom>
            <a:solidFill>
              <a:srgbClr val="1C53D9"/>
            </a:solidFill>
            <a:ln>
              <a:noFill/>
            </a:ln>
            <a:effectLst>
              <a:outerShdw blurRad="63500" dist="25400" dir="5400000" algn="ctr" rotWithShape="0">
                <a:srgbClr val="1C53D9">
                  <a:alpha val="4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5899" y="3518"/>
              <a:ext cx="930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0</a:t>
              </a:r>
              <a:r>
                <a:rPr lang="en-US" altLang="zh-CN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</a:t>
              </a:r>
              <a:endPara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7501" y="3566"/>
              <a:ext cx="340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设备保养</a:t>
              </a: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工单</a:t>
              </a:r>
              <a:endPara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3745865" y="1210310"/>
            <a:ext cx="3181350" cy="521970"/>
            <a:chOff x="5899" y="1906"/>
            <a:chExt cx="5010" cy="822"/>
          </a:xfrm>
        </p:grpSpPr>
        <p:sp>
          <p:nvSpPr>
            <p:cNvPr id="16" name="文本框 15"/>
            <p:cNvSpPr txBox="1"/>
            <p:nvPr>
              <p:custDataLst>
                <p:tags r:id="rId6"/>
              </p:custDataLst>
            </p:nvPr>
          </p:nvSpPr>
          <p:spPr>
            <a:xfrm>
              <a:off x="5899" y="1906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01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7"/>
              </p:custDataLst>
            </p:nvPr>
          </p:nvSpPr>
          <p:spPr>
            <a:xfrm>
              <a:off x="7501" y="1930"/>
              <a:ext cx="340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设备保养</a:t>
              </a: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3745865" y="2133600"/>
            <a:ext cx="3181350" cy="521970"/>
            <a:chOff x="5899" y="3344"/>
            <a:chExt cx="5010" cy="822"/>
          </a:xfrm>
        </p:grpSpPr>
        <p:sp>
          <p:nvSpPr>
            <p:cNvPr id="2" name="文本框 1"/>
            <p:cNvSpPr txBox="1"/>
            <p:nvPr>
              <p:custDataLst>
                <p:tags r:id="rId9"/>
              </p:custDataLst>
            </p:nvPr>
          </p:nvSpPr>
          <p:spPr>
            <a:xfrm>
              <a:off x="5899" y="3344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02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10"/>
              </p:custDataLst>
            </p:nvPr>
          </p:nvSpPr>
          <p:spPr>
            <a:xfrm>
              <a:off x="7501" y="3368"/>
              <a:ext cx="340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设备</a:t>
              </a: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保养计划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11"/>
            </p:custDataLst>
          </p:nvPr>
        </p:nvGrpSpPr>
        <p:grpSpPr>
          <a:xfrm>
            <a:off x="3745865" y="4170680"/>
            <a:ext cx="3181350" cy="521970"/>
            <a:chOff x="5899" y="6569"/>
            <a:chExt cx="5010" cy="822"/>
          </a:xfrm>
        </p:grpSpPr>
        <p:sp>
          <p:nvSpPr>
            <p:cNvPr id="4" name="文本框 3"/>
            <p:cNvSpPr txBox="1"/>
            <p:nvPr>
              <p:custDataLst>
                <p:tags r:id="rId12"/>
              </p:custDataLst>
            </p:nvPr>
          </p:nvSpPr>
          <p:spPr>
            <a:xfrm>
              <a:off x="5899" y="6569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04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3"/>
              </p:custDataLst>
            </p:nvPr>
          </p:nvSpPr>
          <p:spPr>
            <a:xfrm>
              <a:off x="7501" y="6593"/>
              <a:ext cx="340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备件</a:t>
              </a: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更换记录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2670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设备保养工单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列表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450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保养计划执行完成后，生成保养</a:t>
            </a: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工单</a:t>
            </a:r>
            <a:endParaRPr lang="zh-CN" altLang="en-US" sz="160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22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3267075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设备保养工单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详情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450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功能描述：保养计划执行完成后，生成保养工单</a:t>
            </a:r>
            <a:endParaRPr lang="zh-CN" altLang="en-US" sz="160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485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75570" y="1050685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4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9160" y="1648362"/>
            <a:ext cx="1959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3590544" y="4025900"/>
            <a:ext cx="5553456" cy="713105"/>
            <a:chOff x="5654" y="3368"/>
            <a:chExt cx="8746" cy="1123"/>
          </a:xfrm>
        </p:grpSpPr>
        <p:sp>
          <p:nvSpPr>
            <p:cNvPr id="7" name="矩形 6"/>
            <p:cNvSpPr/>
            <p:nvPr>
              <p:custDataLst>
                <p:tags r:id="rId2"/>
              </p:custDataLst>
            </p:nvPr>
          </p:nvSpPr>
          <p:spPr>
            <a:xfrm>
              <a:off x="5654" y="3368"/>
              <a:ext cx="8746" cy="1123"/>
            </a:xfrm>
            <a:prstGeom prst="rect">
              <a:avLst/>
            </a:prstGeom>
            <a:solidFill>
              <a:srgbClr val="1C53D9"/>
            </a:solidFill>
            <a:ln>
              <a:noFill/>
            </a:ln>
            <a:effectLst>
              <a:outerShdw blurRad="63500" dist="25400" dir="5400000" algn="ctr" rotWithShape="0">
                <a:srgbClr val="1C53D9">
                  <a:alpha val="4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>
              <p:custDataLst>
                <p:tags r:id="rId3"/>
              </p:custDataLst>
            </p:nvPr>
          </p:nvSpPr>
          <p:spPr>
            <a:xfrm>
              <a:off x="5899" y="3518"/>
              <a:ext cx="930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0</a:t>
              </a:r>
              <a:r>
                <a:rPr lang="en-US" altLang="zh-CN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4</a:t>
              </a:r>
              <a:endParaRPr lang="en-US" altLang="zh-CN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4"/>
              </p:custDataLst>
            </p:nvPr>
          </p:nvSpPr>
          <p:spPr>
            <a:xfrm>
              <a:off x="7501" y="3566"/>
              <a:ext cx="340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备件</a:t>
              </a:r>
              <a:r>
                <a:rPr lang="zh-CN" altLang="en-US" sz="2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更换记录</a:t>
              </a:r>
              <a:endParaRPr lang="zh-CN" altLang="en-US" sz="2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>
            <a:off x="3745865" y="1210310"/>
            <a:ext cx="3181350" cy="521970"/>
            <a:chOff x="5899" y="1906"/>
            <a:chExt cx="5010" cy="822"/>
          </a:xfrm>
        </p:grpSpPr>
        <p:sp>
          <p:nvSpPr>
            <p:cNvPr id="16" name="文本框 15"/>
            <p:cNvSpPr txBox="1"/>
            <p:nvPr>
              <p:custDataLst>
                <p:tags r:id="rId6"/>
              </p:custDataLst>
            </p:nvPr>
          </p:nvSpPr>
          <p:spPr>
            <a:xfrm>
              <a:off x="5899" y="1906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01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7"/>
              </p:custDataLst>
            </p:nvPr>
          </p:nvSpPr>
          <p:spPr>
            <a:xfrm>
              <a:off x="7501" y="1930"/>
              <a:ext cx="340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设备保养</a:t>
              </a: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项目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151213" y="4829810"/>
            <a:ext cx="430983" cy="84582"/>
            <a:chOff x="8171533" y="4906010"/>
            <a:chExt cx="430983" cy="84582"/>
          </a:xfrm>
        </p:grpSpPr>
        <p:sp>
          <p:nvSpPr>
            <p:cNvPr id="22" name="椭圆 21"/>
            <p:cNvSpPr/>
            <p:nvPr/>
          </p:nvSpPr>
          <p:spPr>
            <a:xfrm>
              <a:off x="8517934" y="4906010"/>
              <a:ext cx="84582" cy="84582"/>
            </a:xfrm>
            <a:prstGeom prst="ellipse">
              <a:avLst/>
            </a:prstGeom>
            <a:solidFill>
              <a:srgbClr val="D44D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344734" y="4906010"/>
              <a:ext cx="84582" cy="84582"/>
            </a:xfrm>
            <a:prstGeom prst="ellipse">
              <a:avLst/>
            </a:prstGeom>
            <a:solidFill>
              <a:srgbClr val="D44D51">
                <a:alpha val="5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171533" y="4906010"/>
              <a:ext cx="84582" cy="84582"/>
            </a:xfrm>
            <a:prstGeom prst="ellipse">
              <a:avLst/>
            </a:prstGeom>
            <a:solidFill>
              <a:srgbClr val="D44D51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3745865" y="2148840"/>
            <a:ext cx="3181350" cy="521970"/>
            <a:chOff x="5899" y="3344"/>
            <a:chExt cx="5010" cy="822"/>
          </a:xfrm>
        </p:grpSpPr>
        <p:sp>
          <p:nvSpPr>
            <p:cNvPr id="2" name="文本框 1"/>
            <p:cNvSpPr txBox="1"/>
            <p:nvPr>
              <p:custDataLst>
                <p:tags r:id="rId9"/>
              </p:custDataLst>
            </p:nvPr>
          </p:nvSpPr>
          <p:spPr>
            <a:xfrm>
              <a:off x="5899" y="3344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02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10"/>
              </p:custDataLst>
            </p:nvPr>
          </p:nvSpPr>
          <p:spPr>
            <a:xfrm>
              <a:off x="7501" y="3368"/>
              <a:ext cx="340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设备保养</a:t>
              </a: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计划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11"/>
            </p:custDataLst>
          </p:nvPr>
        </p:nvGrpSpPr>
        <p:grpSpPr>
          <a:xfrm>
            <a:off x="3745865" y="3087370"/>
            <a:ext cx="2520950" cy="521970"/>
            <a:chOff x="5899" y="6569"/>
            <a:chExt cx="3970" cy="822"/>
          </a:xfrm>
        </p:grpSpPr>
        <p:sp>
          <p:nvSpPr>
            <p:cNvPr id="4" name="文本框 3"/>
            <p:cNvSpPr txBox="1"/>
            <p:nvPr>
              <p:custDataLst>
                <p:tags r:id="rId12"/>
              </p:custDataLst>
            </p:nvPr>
          </p:nvSpPr>
          <p:spPr>
            <a:xfrm>
              <a:off x="5899" y="6569"/>
              <a:ext cx="98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en-US" altLang="zh-CN" sz="2800" b="1" dirty="0">
                  <a:solidFill>
                    <a:srgbClr val="C3C3C3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04</a:t>
              </a:r>
              <a:endParaRPr lang="en-US" altLang="zh-CN" sz="2800" b="1" dirty="0">
                <a:solidFill>
                  <a:srgbClr val="C3C3C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5" name="文本框 4"/>
            <p:cNvSpPr txBox="1"/>
            <p:nvPr>
              <p:custDataLst>
                <p:tags r:id="rId13"/>
              </p:custDataLst>
            </p:nvPr>
          </p:nvSpPr>
          <p:spPr>
            <a:xfrm>
              <a:off x="7501" y="6593"/>
              <a:ext cx="2368" cy="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 algn="l">
                <a:buClrTx/>
                <a:buSzTx/>
                <a:buFontTx/>
              </a:pP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设备</a:t>
              </a:r>
              <a:r>
                <a:rPr lang="zh-CN" altLang="en-US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工单</a:t>
              </a:r>
              <a:endParaRPr lang="zh-CN" altLang="en-US" sz="2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38493" y="109401"/>
            <a:ext cx="246253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备件更换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记录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238929" y="802833"/>
            <a:ext cx="4043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功能描述：记录保养时发起的备件更换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记录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760" y="1341755"/>
            <a:ext cx="8003369" cy="3801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497627" y="4843263"/>
            <a:ext cx="6148747" cy="24622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di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一切以客户为中心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诚信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高效 </a:t>
            </a:r>
            <a:r>
              <a:rPr kumimoji="0" lang="en-US" altLang="zh-CN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| </a:t>
            </a:r>
            <a:r>
              <a:rPr kumimoji="0" lang="zh-CN" altLang="en-US" sz="1000" b="0" i="0" u="none" strike="noStrike" kern="1200" cap="none" spc="28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奋斗</a:t>
            </a:r>
            <a:endParaRPr kumimoji="0" lang="zh-CN" altLang="en-US" sz="1000" b="0" i="0" u="none" strike="noStrike" kern="1200" cap="none" spc="284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2197" y="3188613"/>
            <a:ext cx="767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汇报人：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     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2023.03. 08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0446" y="4674871"/>
            <a:ext cx="4041734" cy="18470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53D9">
              <a:alpha val="61000"/>
            </a:srgbClr>
          </a:solidFill>
          <a:ln>
            <a:solidFill>
              <a:srgbClr val="1C5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7" y="479221"/>
            <a:ext cx="1055019" cy="353264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00400" y="3103624"/>
            <a:ext cx="39738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数智工厂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设备模块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使用手册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0400" y="3592334"/>
            <a:ext cx="21386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版本号：数智工厂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3.10.0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0400" y="3894968"/>
            <a:ext cx="194881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   间：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07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15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1637" y="2166263"/>
            <a:ext cx="40751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5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   END</a:t>
            </a:r>
            <a:endParaRPr lang="zh-CN" altLang="en-US" sz="5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2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3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4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5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6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7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8.xml><?xml version="1.0" encoding="utf-8"?>
<p:tagLst xmlns:p="http://schemas.openxmlformats.org/presentationml/2006/main">
  <p:tag name="KSO_WM_DIAGRAM_VIRTUALLY_FRAME" val="{&quot;height&quot;:270.2892125984252,&quot;left&quot;:294.93370078740156,&quot;top&quot;:95.28488188976378,&quot;width&quot;:324.62771653543314}"/>
</p:tagLst>
</file>

<file path=ppt/tags/tag9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10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11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12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13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14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15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16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17.xml><?xml version="1.0" encoding="utf-8"?>
<p:tagLst xmlns:p="http://schemas.openxmlformats.org/presentationml/2006/main">
  <p:tag name="KSO_WM_DIAGRAM_VIRTUALLY_FRAME" val="{&quot;height&quot;:274.25,&quot;left&quot;:282.71999999999997,&quot;top&quot;:95.28488188976378,&quot;width&quot;:437.28000000000003}"/>
</p:tagLst>
</file>

<file path=ppt/tags/tag18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ags/tag19.xml><?xml version="1.0" encoding="utf-8"?>
<p:tagLst xmlns:p="http://schemas.openxmlformats.org/presentationml/2006/main">
  <p:tag name="KSO_WM_DIAGRAM_VIRTUALLY_FRAME" val="{&quot;height&quot;:142.7,&quot;left&quot;:209.6,&quot;top&quot;:199.5,&quot;width&quot;:508.35}"/>
</p:tagLst>
</file>

<file path=ppt/tags/tag20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1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2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3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4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5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6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7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8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29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30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31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32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33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34.xml><?xml version="1.0" encoding="utf-8"?>
<p:tagLst xmlns:p="http://schemas.openxmlformats.org/presentationml/2006/main">
  <p:tag name="KSO_WM_DIAGRAM_VIRTUALLY_FRAME" val="{&quot;height&quot;:274.2651181102362,&quot;left&quot;:282.7,&quot;top&quot;:95.28488188976378,&quot;width&quot;:437.3}"/>
</p:tagLst>
</file>

<file path=ppt/tags/tag35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36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37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38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39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40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41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42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43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44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ags/tag45.xml><?xml version="1.0" encoding="utf-8"?>
<p:tagLst xmlns:p="http://schemas.openxmlformats.org/presentationml/2006/main">
  <p:tag name="KSO_WM_DIAGRAM_VIRTUALLY_FRAME" val="{&quot;height&quot;:277.8651181102362,&quot;left&quot;:282.7,&quot;top&quot;:95.28488188976378,&quot;width&quot;:437.3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36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763</Words>
  <Application>WPS 演示</Application>
  <PresentationFormat>全屏显示(16:9)</PresentationFormat>
  <Paragraphs>150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Calibri</vt:lpstr>
      <vt:lpstr>等线</vt:lpstr>
      <vt:lpstr>Arial Unicode MS</vt:lpstr>
      <vt:lpstr>等线 Light</vt:lpstr>
      <vt:lpstr>Calibri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J881</dc:creator>
  <cp:lastModifiedBy>儒毅</cp:lastModifiedBy>
  <cp:revision>60</cp:revision>
  <dcterms:created xsi:type="dcterms:W3CDTF">2025-02-10T02:33:00Z</dcterms:created>
  <dcterms:modified xsi:type="dcterms:W3CDTF">2025-07-31T06:47:37Z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AEFD41B848154CD4B109ACF84D614C21_12</vt:lpwstr>
  </property>
  <property fmtid="{D5CDD505-2E9C-101B-9397-08002B2CF9AE}" pid="3" name="KSOProductBuildVer">
    <vt:lpwstr>2052-12.1.0.21915</vt:lpwstr>
  </property>
</Properties>
</file>