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62" r:id="rId5"/>
    <p:sldId id="295" r:id="rId6"/>
    <p:sldId id="318" r:id="rId7"/>
    <p:sldId id="291" r:id="rId8"/>
    <p:sldId id="313" r:id="rId9"/>
    <p:sldId id="319" r:id="rId10"/>
    <p:sldId id="320" r:id="rId11"/>
    <p:sldId id="321" r:id="rId12"/>
    <p:sldId id="305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53D9"/>
    <a:srgbClr val="F7A3A3"/>
    <a:srgbClr val="FDE7E7"/>
    <a:srgbClr val="D95D61"/>
    <a:srgbClr val="DB696D"/>
    <a:srgbClr val="D44D51"/>
    <a:srgbClr val="C3C3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98" d="100"/>
          <a:sy n="198" d="100"/>
        </p:scale>
        <p:origin x="154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9F60A8-5704-417B-9342-B9521C3015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FEE847-FC93-470B-B269-6988605DEEB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EE847-FC93-470B-B269-6988605DEE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5FEE847-FC93-470B-B269-6988605DEEB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2382" y="173076"/>
            <a:ext cx="775853" cy="2596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497627" y="4843263"/>
            <a:ext cx="6148747" cy="24622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algn="dist"/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一切以客户为中心 </a:t>
            </a:r>
            <a:r>
              <a:rPr lang="en-US" altLang="zh-CN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诚信 </a:t>
            </a:r>
            <a:r>
              <a:rPr lang="en-US" altLang="zh-CN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 </a:t>
            </a:r>
            <a:r>
              <a:rPr lang="en-US" altLang="zh-CN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高效 </a:t>
            </a:r>
            <a:r>
              <a:rPr lang="en-US" altLang="zh-CN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奋斗</a:t>
            </a:r>
            <a:endParaRPr lang="zh-CN" altLang="en-US" sz="1000" spc="284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32197" y="3188613"/>
            <a:ext cx="7679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汇报人：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XXX      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时间：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2023.03. 08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9" name="图形 1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0446" y="4674871"/>
            <a:ext cx="4041734" cy="18470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53D9">
              <a:alpha val="61000"/>
            </a:srgbClr>
          </a:solidFill>
          <a:ln>
            <a:solidFill>
              <a:srgbClr val="1C53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87" y="479221"/>
            <a:ext cx="1055019" cy="353264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00400" y="1733014"/>
            <a:ext cx="6184900" cy="6756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数智工厂</a:t>
            </a:r>
            <a:r>
              <a:rPr lang="en-US" altLang="zh-CN" sz="3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8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设备模块</a:t>
            </a:r>
            <a:r>
              <a:rPr lang="zh-CN" altLang="en-US" sz="3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使用手册</a:t>
            </a:r>
            <a:endParaRPr lang="zh-CN" altLang="en-US" sz="3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00400" y="2740650"/>
            <a:ext cx="21386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版本号：数智工厂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3.10.0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00400" y="3084279"/>
            <a:ext cx="194881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   间：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07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590544" y="1100328"/>
            <a:ext cx="5553456" cy="713232"/>
          </a:xfrm>
          <a:prstGeom prst="rect">
            <a:avLst/>
          </a:prstGeom>
          <a:solidFill>
            <a:srgbClr val="1C53D9"/>
          </a:solidFill>
          <a:ln>
            <a:noFill/>
          </a:ln>
          <a:effectLst>
            <a:outerShdw blurRad="63500" dist="25400" dir="5400000" algn="ctr" rotWithShape="0">
              <a:srgbClr val="1C53D9">
                <a:alpha val="4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3745658" y="2233939"/>
            <a:ext cx="627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02</a:t>
            </a:r>
            <a:endParaRPr lang="zh-CN" altLang="en-US" sz="2800" b="1" dirty="0">
              <a:solidFill>
                <a:srgbClr val="C3C3C3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75570" y="1050685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40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39160" y="1648362"/>
            <a:ext cx="19591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Contents</a:t>
            </a:r>
            <a:endParaRPr lang="zh-CN" alt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2"/>
            </p:custDataLst>
          </p:nvPr>
        </p:nvSpPr>
        <p:spPr>
          <a:xfrm>
            <a:off x="4763093" y="2264716"/>
            <a:ext cx="31546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国产化替代项目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执行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6" name="文本框 15"/>
          <p:cNvSpPr txBox="1"/>
          <p:nvPr>
            <p:custDataLst>
              <p:tags r:id="rId3"/>
            </p:custDataLst>
          </p:nvPr>
        </p:nvSpPr>
        <p:spPr>
          <a:xfrm>
            <a:off x="3745658" y="1210118"/>
            <a:ext cx="57785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01</a:t>
            </a:r>
            <a:endParaRPr lang="zh-CN" altLang="en-US" sz="2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7" name="文本框 16"/>
          <p:cNvSpPr txBox="1"/>
          <p:nvPr>
            <p:custDataLst>
              <p:tags r:id="rId4"/>
            </p:custDataLst>
          </p:nvPr>
        </p:nvSpPr>
        <p:spPr>
          <a:xfrm>
            <a:off x="4763093" y="1225507"/>
            <a:ext cx="31546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国产化替代项目</a:t>
            </a: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申报</a:t>
            </a:r>
            <a:endParaRPr lang="zh-CN" altLang="en-US" sz="2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8151213" y="4829810"/>
            <a:ext cx="430983" cy="84582"/>
            <a:chOff x="8171533" y="4906010"/>
            <a:chExt cx="430983" cy="84582"/>
          </a:xfrm>
        </p:grpSpPr>
        <p:sp>
          <p:nvSpPr>
            <p:cNvPr id="22" name="椭圆 21"/>
            <p:cNvSpPr/>
            <p:nvPr/>
          </p:nvSpPr>
          <p:spPr>
            <a:xfrm>
              <a:off x="8517934" y="4906010"/>
              <a:ext cx="84582" cy="84582"/>
            </a:xfrm>
            <a:prstGeom prst="ellipse">
              <a:avLst/>
            </a:prstGeom>
            <a:solidFill>
              <a:srgbClr val="D44D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8344734" y="4906010"/>
              <a:ext cx="84582" cy="84582"/>
            </a:xfrm>
            <a:prstGeom prst="ellipse">
              <a:avLst/>
            </a:prstGeom>
            <a:solidFill>
              <a:srgbClr val="D44D51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8171533" y="4906010"/>
              <a:ext cx="84582" cy="84582"/>
            </a:xfrm>
            <a:prstGeom prst="ellipse">
              <a:avLst/>
            </a:prstGeom>
            <a:solidFill>
              <a:srgbClr val="D44D51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389953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国产化替代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项目申报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238929" y="802833"/>
            <a:ext cx="34340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功能描述：填写国产化替代项目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内容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125" y="1341755"/>
            <a:ext cx="8003369" cy="380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389953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1.2 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国产化替代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列表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238929" y="802833"/>
            <a:ext cx="56692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功能描述：项目申报获取系统审批流，列表展示所有申报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项目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295" y="1341755"/>
            <a:ext cx="8003369" cy="3801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3590544" y="2138553"/>
            <a:ext cx="5553456" cy="713232"/>
          </a:xfrm>
          <a:prstGeom prst="rect">
            <a:avLst/>
          </a:prstGeom>
          <a:solidFill>
            <a:srgbClr val="1C53D9"/>
          </a:solidFill>
          <a:ln>
            <a:noFill/>
          </a:ln>
          <a:effectLst>
            <a:outerShdw blurRad="63500" dist="25400" dir="5400000" algn="ctr" rotWithShape="0">
              <a:srgbClr val="1C53D9">
                <a:alpha val="4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3745658" y="2233939"/>
            <a:ext cx="57785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02</a:t>
            </a:r>
            <a:endParaRPr lang="zh-CN" altLang="en-US" sz="2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75570" y="1050685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40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39160" y="1648362"/>
            <a:ext cx="19591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Contents</a:t>
            </a:r>
            <a:endParaRPr lang="zh-CN" alt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4763093" y="2264716"/>
            <a:ext cx="31546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国产化替代项目</a:t>
            </a: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执行</a:t>
            </a:r>
            <a:endParaRPr lang="zh-CN" altLang="en-US" sz="2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6" name="文本框 15"/>
          <p:cNvSpPr txBox="1"/>
          <p:nvPr>
            <p:custDataLst>
              <p:tags r:id="rId4"/>
            </p:custDataLst>
          </p:nvPr>
        </p:nvSpPr>
        <p:spPr>
          <a:xfrm>
            <a:off x="3745658" y="1210118"/>
            <a:ext cx="6270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01</a:t>
            </a:r>
            <a:endParaRPr lang="en-US" altLang="zh-CN" sz="2800" b="1" dirty="0">
              <a:solidFill>
                <a:srgbClr val="C3C3C3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7" name="文本框 16"/>
          <p:cNvSpPr txBox="1"/>
          <p:nvPr>
            <p:custDataLst>
              <p:tags r:id="rId5"/>
            </p:custDataLst>
          </p:nvPr>
        </p:nvSpPr>
        <p:spPr>
          <a:xfrm>
            <a:off x="4763093" y="1225507"/>
            <a:ext cx="31546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国产化替代项目申报</a:t>
            </a:r>
            <a:endParaRPr lang="zh-CN" altLang="en-US" sz="26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8151213" y="4829810"/>
            <a:ext cx="430983" cy="84582"/>
            <a:chOff x="8171533" y="4906010"/>
            <a:chExt cx="430983" cy="84582"/>
          </a:xfrm>
        </p:grpSpPr>
        <p:sp>
          <p:nvSpPr>
            <p:cNvPr id="22" name="椭圆 21"/>
            <p:cNvSpPr/>
            <p:nvPr/>
          </p:nvSpPr>
          <p:spPr>
            <a:xfrm>
              <a:off x="8517934" y="4906010"/>
              <a:ext cx="84582" cy="84582"/>
            </a:xfrm>
            <a:prstGeom prst="ellipse">
              <a:avLst/>
            </a:prstGeom>
            <a:solidFill>
              <a:srgbClr val="D44D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8344734" y="4906010"/>
              <a:ext cx="84582" cy="84582"/>
            </a:xfrm>
            <a:prstGeom prst="ellipse">
              <a:avLst/>
            </a:prstGeom>
            <a:solidFill>
              <a:srgbClr val="D44D51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8171533" y="4906010"/>
              <a:ext cx="84582" cy="84582"/>
            </a:xfrm>
            <a:prstGeom prst="ellipse">
              <a:avLst/>
            </a:prstGeom>
            <a:solidFill>
              <a:srgbClr val="D44D51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621093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2.1 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国产化替代项目执行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设置流程审批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238929" y="802833"/>
            <a:ext cx="64820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功能描述：在执行过程中涉及多个审批节点，每个节点支持设置审批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人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760" y="1341755"/>
            <a:ext cx="8003369" cy="380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522033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2.2 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国产化替代项目执行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新增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测试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238929" y="802833"/>
            <a:ext cx="48564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功能描述：项目推进过程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中，登记备件上机测试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结果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240" y="1341755"/>
            <a:ext cx="8003369" cy="3801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522033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2.3 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国产化替代项目执行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周期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反馈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238929" y="802833"/>
            <a:ext cx="58724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功能描述：登记备件上机多轮次验证结果，验证通过后提交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终审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341755"/>
            <a:ext cx="8003369" cy="3801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522033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2.4 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国产化替代项目执行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238929" y="802833"/>
            <a:ext cx="48564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功能描述：设备主管验收后，由工程师填写总结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报告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350" y="1341755"/>
            <a:ext cx="8003369" cy="3801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497627" y="4843263"/>
            <a:ext cx="6148747" cy="24622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di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一切以客户为中心 </a:t>
            </a:r>
            <a:r>
              <a:rPr kumimoji="0" lang="en-US" altLang="zh-CN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诚信 </a:t>
            </a:r>
            <a:r>
              <a:rPr kumimoji="0" lang="en-US" altLang="zh-CN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创新 </a:t>
            </a:r>
            <a:r>
              <a:rPr kumimoji="0" lang="en-US" altLang="zh-CN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高效 </a:t>
            </a:r>
            <a:r>
              <a:rPr kumimoji="0" lang="en-US" altLang="zh-CN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奋斗</a:t>
            </a:r>
            <a:endParaRPr kumimoji="0" lang="zh-CN" altLang="en-US" sz="1000" b="0" i="0" u="none" strike="noStrike" kern="1200" cap="none" spc="284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32197" y="3188613"/>
            <a:ext cx="7679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汇报人：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XXX      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时间：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2023.03. 08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9" name="图形 1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0446" y="4674871"/>
            <a:ext cx="4041734" cy="18470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53D9">
              <a:alpha val="61000"/>
            </a:srgbClr>
          </a:solidFill>
          <a:ln>
            <a:solidFill>
              <a:srgbClr val="1C53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7" name="图片 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87" y="479221"/>
            <a:ext cx="1055019" cy="353264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00400" y="3103624"/>
            <a:ext cx="397383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数智工厂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设备模块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使用手册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00400" y="3592334"/>
            <a:ext cx="21386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版本号：数智工厂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3.10.0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版本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00400" y="3894968"/>
            <a:ext cx="194881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时   间：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2025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07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15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日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11637" y="2166263"/>
            <a:ext cx="407515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5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   END</a:t>
            </a:r>
            <a:endParaRPr lang="zh-CN" altLang="en-US" sz="5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0.2892125984252,&quot;left&quot;:294.93370078740156,&quot;top&quot;:95.28488188976378,&quot;width&quot;:361.7629921259842}"/>
</p:tagLst>
</file>

<file path=ppt/tags/tag2.xml><?xml version="1.0" encoding="utf-8"?>
<p:tagLst xmlns:p="http://schemas.openxmlformats.org/presentationml/2006/main">
  <p:tag name="KSO_WM_DIAGRAM_VIRTUALLY_FRAME" val="{&quot;height&quot;:270.2892125984252,&quot;left&quot;:294.93370078740156,&quot;top&quot;:95.28488188976378,&quot;width&quot;:361.7629921259842}"/>
</p:tagLst>
</file>

<file path=ppt/tags/tag3.xml><?xml version="1.0" encoding="utf-8"?>
<p:tagLst xmlns:p="http://schemas.openxmlformats.org/presentationml/2006/main">
  <p:tag name="KSO_WM_DIAGRAM_VIRTUALLY_FRAME" val="{&quot;height&quot;:270.2892125984252,&quot;left&quot;:294.93370078740156,&quot;top&quot;:95.28488188976378,&quot;width&quot;:361.7629921259842}"/>
</p:tagLst>
</file>

<file path=ppt/tags/tag4.xml><?xml version="1.0" encoding="utf-8"?>
<p:tagLst xmlns:p="http://schemas.openxmlformats.org/presentationml/2006/main">
  <p:tag name="KSO_WM_DIAGRAM_VIRTUALLY_FRAME" val="{&quot;height&quot;:270.2892125984252,&quot;left&quot;:294.93370078740156,&quot;top&quot;:95.28488188976378,&quot;width&quot;:361.7629921259842}"/>
</p:tagLst>
</file>

<file path=ppt/tags/tag5.xml><?xml version="1.0" encoding="utf-8"?>
<p:tagLst xmlns:p="http://schemas.openxmlformats.org/presentationml/2006/main">
  <p:tag name="KSO_WM_DIAGRAM_VIRTUALLY_FRAME" val="{&quot;height&quot;:274.2499999999999,&quot;left&quot;:282.71999999999997,&quot;top&quot;:95.28488188976378,&quot;width&quot;:437.28000000000003}"/>
</p:tagLst>
</file>

<file path=ppt/tags/tag6.xml><?xml version="1.0" encoding="utf-8"?>
<p:tagLst xmlns:p="http://schemas.openxmlformats.org/presentationml/2006/main">
  <p:tag name="KSO_WM_DIAGRAM_VIRTUALLY_FRAME" val="{&quot;height&quot;:274.25,&quot;left&quot;:282.71999999999997,&quot;top&quot;:95.28488188976378,&quot;width&quot;:437.28000000000003}"/>
</p:tagLst>
</file>

<file path=ppt/tags/tag7.xml><?xml version="1.0" encoding="utf-8"?>
<p:tagLst xmlns:p="http://schemas.openxmlformats.org/presentationml/2006/main">
  <p:tag name="KSO_WM_DIAGRAM_VIRTUALLY_FRAME" val="{&quot;height&quot;:274.25,&quot;left&quot;:282.71999999999997,&quot;top&quot;:95.28488188976378,&quot;width&quot;:437.28000000000003}"/>
</p:tagLst>
</file>

<file path=ppt/tags/tag8.xml><?xml version="1.0" encoding="utf-8"?>
<p:tagLst xmlns:p="http://schemas.openxmlformats.org/presentationml/2006/main">
  <p:tag name="KSO_WM_DIAGRAM_VIRTUALLY_FRAME" val="{&quot;height&quot;:274.25,&quot;left&quot;:282.71999999999997,&quot;top&quot;:95.28488188976378,&quot;width&quot;:437.28000000000003}"/>
</p:tagLst>
</file>

<file path=ppt/tags/tag9.xml><?xml version="1.0" encoding="utf-8"?>
<p:tagLst xmlns:p="http://schemas.openxmlformats.org/presentationml/2006/main">
  <p:tag name="KSO_WM_DIAGRAM_VIRTUALLY_FRAME" val="{&quot;height&quot;:274.25,&quot;left&quot;:282.71999999999997,&quot;top&quot;:95.28488188976378,&quot;width&quot;:437.28000000000003}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3600" b="1" dirty="0" smtClean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529</Words>
  <Application>WPS 演示</Application>
  <PresentationFormat>全屏显示(16:9)</PresentationFormat>
  <Paragraphs>70</Paragraphs>
  <Slides>10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Calibri</vt:lpstr>
      <vt:lpstr>等线</vt:lpstr>
      <vt:lpstr>Arial Unicode MS</vt:lpstr>
      <vt:lpstr>等线 Light</vt:lpstr>
      <vt:lpstr>Calibri Light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J881</dc:creator>
  <cp:lastModifiedBy>儒毅</cp:lastModifiedBy>
  <cp:revision>59</cp:revision>
  <dcterms:created xsi:type="dcterms:W3CDTF">2025-02-10T02:33:00Z</dcterms:created>
  <dcterms:modified xsi:type="dcterms:W3CDTF">2025-07-19T09:16:18Z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AEFD41B848154CD4B109ACF84D614C21_12</vt:lpwstr>
  </property>
  <property fmtid="{D5CDD505-2E9C-101B-9397-08002B2CF9AE}" pid="3" name="KSOProductBuildVer">
    <vt:lpwstr>2052-12.1.0.21915</vt:lpwstr>
  </property>
</Properties>
</file>