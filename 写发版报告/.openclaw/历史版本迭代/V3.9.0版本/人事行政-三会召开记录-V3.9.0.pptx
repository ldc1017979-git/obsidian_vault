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1" r:id="rId9"/>
    <p:sldId id="316" r:id="rId10"/>
    <p:sldId id="313" r:id="rId11"/>
    <p:sldId id="319" r:id="rId12"/>
    <p:sldId id="320" r:id="rId13"/>
    <p:sldId id="321" r:id="rId14"/>
    <p:sldId id="305" r:id="rId15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29"/>
    <a:srgbClr val="376FFF"/>
    <a:srgbClr val="17D594"/>
    <a:srgbClr val="1C53D9"/>
    <a:srgbClr val="FFC000"/>
    <a:srgbClr val="F7A3A3"/>
    <a:srgbClr val="FDE7E7"/>
    <a:srgbClr val="D95D61"/>
    <a:srgbClr val="DB696D"/>
    <a:srgbClr val="D44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tags" Target="../tags/tag1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1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2775" y="1733014"/>
            <a:ext cx="832612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三会记录操作说明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功能介绍及业务流程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功能介绍及流程说明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131"/>
          <p:cNvSpPr/>
          <p:nvPr/>
        </p:nvSpPr>
        <p:spPr>
          <a:xfrm>
            <a:off x="934085" y="1193165"/>
            <a:ext cx="7294245" cy="3100705"/>
          </a:xfrm>
          <a:prstGeom prst="roundRect">
            <a:avLst>
              <a:gd name="adj" fmla="val 14025"/>
            </a:avLst>
          </a:prstGeom>
          <a:solidFill>
            <a:srgbClr val="1C53D9"/>
          </a:solidFill>
          <a:ln w="6350" cap="flat">
            <a:noFill/>
            <a:prstDash val="solid"/>
            <a:miter/>
          </a:ln>
          <a:effectLst>
            <a:outerShdw blurRad="532726" dist="199107" dir="5400000" algn="t" rotWithShape="0">
              <a:schemeClr val="accent1">
                <a:alpha val="16774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450778" y="1453132"/>
            <a:ext cx="3336925" cy="307340"/>
            <a:chOff x="917011" y="1529802"/>
            <a:chExt cx="3336925" cy="307340"/>
          </a:xfrm>
        </p:grpSpPr>
        <p:sp>
          <p:nvSpPr>
            <p:cNvPr id="62" name="椭圆 61"/>
            <p:cNvSpPr/>
            <p:nvPr/>
          </p:nvSpPr>
          <p:spPr>
            <a:xfrm>
              <a:off x="917011" y="1580860"/>
              <a:ext cx="158750" cy="158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02761" y="1529802"/>
              <a:ext cx="3051175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三会召开记录</a:t>
              </a:r>
              <a:r>
                <a:rPr kumimoji="0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功能说明</a:t>
              </a:r>
              <a:endPara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358900" y="1781810"/>
            <a:ext cx="6585585" cy="23310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支持对座谈会、党会、工会等各类会议进行信息化记录，根据会议要求通过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「执行指派</a:t>
            </a:r>
            <a:r>
              <a:rPr kumimoji="0" lang="en-US" altLang="zh-CN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 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kumimoji="0" lang="en-US" altLang="zh-CN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 </a:t>
            </a:r>
            <a:r>
              <a: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验收」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闭环流程</a:t>
            </a: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，实现从会议部署到落地的全周期管理。</a:t>
            </a:r>
            <a:b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该功能通过标准化流程推动会议决策落地，既实现会议内容的完整留存，又通过任务闭环管理提升执行效率，为组织管理提供可追溯和统计的数字化依据。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871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三会记录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业务状态流转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流程图: 可选过程 75"/>
          <p:cNvSpPr/>
          <p:nvPr/>
        </p:nvSpPr>
        <p:spPr>
          <a:xfrm>
            <a:off x="321945" y="2256790"/>
            <a:ext cx="1175385" cy="414020"/>
          </a:xfrm>
          <a:prstGeom prst="flowChartAlternateProcess">
            <a:avLst/>
          </a:prstGeom>
          <a:solidFill>
            <a:srgbClr val="376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新增三会记录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流程图: 过程 76"/>
          <p:cNvSpPr/>
          <p:nvPr/>
        </p:nvSpPr>
        <p:spPr>
          <a:xfrm>
            <a:off x="1991360" y="2256790"/>
            <a:ext cx="824865" cy="414020"/>
          </a:xfrm>
          <a:prstGeom prst="flowChartProces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待确认</a:t>
            </a:r>
            <a:endParaRPr lang="zh-CN" altLang="en-US" sz="1200"/>
          </a:p>
        </p:txBody>
      </p:sp>
      <p:sp>
        <p:nvSpPr>
          <p:cNvPr id="79" name="流程图: 决策 78"/>
          <p:cNvSpPr/>
          <p:nvPr/>
        </p:nvSpPr>
        <p:spPr>
          <a:xfrm>
            <a:off x="3310255" y="2099310"/>
            <a:ext cx="955675" cy="701040"/>
          </a:xfrm>
          <a:prstGeom prst="flowChartDecision">
            <a:avLst/>
          </a:prstGeom>
          <a:noFill/>
          <a:ln>
            <a:solidFill>
              <a:srgbClr val="376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/>
                </a:solidFill>
                <a:sym typeface="+mn-ea"/>
              </a:rPr>
              <a:t>是否</a:t>
            </a:r>
            <a:r>
              <a:rPr lang="zh-CN" altLang="en-US" sz="1000">
                <a:solidFill>
                  <a:schemeClr val="tx1"/>
                </a:solidFill>
                <a:sym typeface="+mn-ea"/>
              </a:rPr>
              <a:t>需执行</a:t>
            </a:r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sp>
        <p:nvSpPr>
          <p:cNvPr id="80" name="流程图: 过程 79"/>
          <p:cNvSpPr/>
          <p:nvPr/>
        </p:nvSpPr>
        <p:spPr>
          <a:xfrm>
            <a:off x="4867275" y="2256790"/>
            <a:ext cx="824865" cy="414020"/>
          </a:xfrm>
          <a:prstGeom prst="flowChartProcess">
            <a:avLst/>
          </a:prstGeom>
          <a:solidFill>
            <a:srgbClr val="FF7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待</a:t>
            </a:r>
            <a:r>
              <a:rPr lang="zh-CN" altLang="en-US" sz="1200"/>
              <a:t>执行</a:t>
            </a:r>
            <a:endParaRPr lang="zh-CN" altLang="en-US" sz="1200"/>
          </a:p>
        </p:txBody>
      </p:sp>
      <p:sp>
        <p:nvSpPr>
          <p:cNvPr id="81" name="流程图: 过程 80"/>
          <p:cNvSpPr/>
          <p:nvPr/>
        </p:nvSpPr>
        <p:spPr>
          <a:xfrm>
            <a:off x="6186170" y="2256790"/>
            <a:ext cx="824865" cy="414020"/>
          </a:xfrm>
          <a:prstGeom prst="flowChartProcess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待审核</a:t>
            </a:r>
            <a:endParaRPr lang="zh-CN" altLang="en-US" sz="1200"/>
          </a:p>
        </p:txBody>
      </p:sp>
      <p:sp>
        <p:nvSpPr>
          <p:cNvPr id="82" name="流程图: 可选过程 81"/>
          <p:cNvSpPr/>
          <p:nvPr/>
        </p:nvSpPr>
        <p:spPr>
          <a:xfrm>
            <a:off x="7505065" y="2268220"/>
            <a:ext cx="887095" cy="414020"/>
          </a:xfrm>
          <a:prstGeom prst="flowChartAlternateProcess">
            <a:avLst/>
          </a:prstGeom>
          <a:solidFill>
            <a:srgbClr val="17D5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肘形连接符 82"/>
          <p:cNvCxnSpPr>
            <a:stCxn id="76" idx="3"/>
            <a:endCxn id="77" idx="1"/>
          </p:cNvCxnSpPr>
          <p:nvPr/>
        </p:nvCxnSpPr>
        <p:spPr>
          <a:xfrm>
            <a:off x="1497330" y="2463800"/>
            <a:ext cx="494030" cy="3175"/>
          </a:xfrm>
          <a:prstGeom prst="bentConnector2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77" idx="3"/>
            <a:endCxn id="79" idx="1"/>
          </p:cNvCxnSpPr>
          <p:nvPr/>
        </p:nvCxnSpPr>
        <p:spPr>
          <a:xfrm flipV="1">
            <a:off x="2816225" y="2449830"/>
            <a:ext cx="494030" cy="1397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流程图: 决策 85"/>
          <p:cNvSpPr/>
          <p:nvPr/>
        </p:nvSpPr>
        <p:spPr>
          <a:xfrm>
            <a:off x="6069330" y="3354070"/>
            <a:ext cx="1062990" cy="748030"/>
          </a:xfrm>
          <a:prstGeom prst="flowChartDecision">
            <a:avLst/>
          </a:prstGeom>
          <a:noFill/>
          <a:ln>
            <a:solidFill>
              <a:srgbClr val="376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是否通过审核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>
            <a:stCxn id="79" idx="3"/>
            <a:endCxn id="80" idx="1"/>
          </p:cNvCxnSpPr>
          <p:nvPr/>
        </p:nvCxnSpPr>
        <p:spPr>
          <a:xfrm>
            <a:off x="4265930" y="2449830"/>
            <a:ext cx="601345" cy="1397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80" idx="3"/>
            <a:endCxn id="81" idx="1"/>
          </p:cNvCxnSpPr>
          <p:nvPr/>
        </p:nvCxnSpPr>
        <p:spPr>
          <a:xfrm>
            <a:off x="5692140" y="2463800"/>
            <a:ext cx="494030" cy="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81" idx="2"/>
            <a:endCxn id="86" idx="0"/>
          </p:cNvCxnSpPr>
          <p:nvPr/>
        </p:nvCxnSpPr>
        <p:spPr>
          <a:xfrm>
            <a:off x="6598920" y="2670810"/>
            <a:ext cx="1905" cy="68326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肘形连接符 89"/>
          <p:cNvCxnSpPr>
            <a:stCxn id="86" idx="3"/>
            <a:endCxn id="82" idx="2"/>
          </p:cNvCxnSpPr>
          <p:nvPr/>
        </p:nvCxnSpPr>
        <p:spPr>
          <a:xfrm flipV="1">
            <a:off x="7132320" y="2682240"/>
            <a:ext cx="816610" cy="1045845"/>
          </a:xfrm>
          <a:prstGeom prst="bentConnector2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肘形连接符 90"/>
          <p:cNvCxnSpPr>
            <a:stCxn id="79" idx="0"/>
            <a:endCxn id="82" idx="0"/>
          </p:cNvCxnSpPr>
          <p:nvPr/>
        </p:nvCxnSpPr>
        <p:spPr>
          <a:xfrm rot="16200000" flipH="1">
            <a:off x="5784215" y="103505"/>
            <a:ext cx="168910" cy="4160520"/>
          </a:xfrm>
          <a:prstGeom prst="bentConnector3">
            <a:avLst>
              <a:gd name="adj1" fmla="val -308270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86" idx="1"/>
            <a:endCxn id="80" idx="2"/>
          </p:cNvCxnSpPr>
          <p:nvPr/>
        </p:nvCxnSpPr>
        <p:spPr>
          <a:xfrm rot="10800000">
            <a:off x="5280025" y="2670810"/>
            <a:ext cx="789305" cy="1057275"/>
          </a:xfrm>
          <a:prstGeom prst="bentConnector2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81" idx="3"/>
            <a:endCxn id="82" idx="1"/>
          </p:cNvCxnSpPr>
          <p:nvPr/>
        </p:nvCxnSpPr>
        <p:spPr>
          <a:xfrm>
            <a:off x="7011035" y="2463800"/>
            <a:ext cx="494030" cy="1143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4453890" y="2338705"/>
            <a:ext cx="139065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749290" y="1456690"/>
            <a:ext cx="139065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zh-CN" altLang="en-US" sz="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577455" y="3616325"/>
            <a:ext cx="139065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404485" y="3621405"/>
            <a:ext cx="139065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zh-CN" altLang="en-US" sz="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3484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三会召开记录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操作说明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功能说明及业务流程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79000" y="720725"/>
            <a:ext cx="7468839" cy="3627469"/>
            <a:chOff x="593" y="1135"/>
            <a:chExt cx="7588" cy="3685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2" y="1149"/>
              <a:ext cx="7579" cy="3661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93" y="1135"/>
              <a:ext cx="7572" cy="3685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691705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en-US" altLang="zh-CN" sz="2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需执行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选择执行人和审核人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285" y="811530"/>
            <a:ext cx="5902960" cy="2872740"/>
            <a:chOff x="1253" y="1135"/>
            <a:chExt cx="11688" cy="568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91" y="1166"/>
              <a:ext cx="11633" cy="5592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1253" y="1135"/>
              <a:ext cx="11689" cy="5688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6390" y="4420235"/>
            <a:ext cx="519938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017645" y="2199005"/>
            <a:ext cx="4579620" cy="1666240"/>
            <a:chOff x="5580" y="3657"/>
            <a:chExt cx="7212" cy="2624"/>
          </a:xfrm>
        </p:grpSpPr>
        <p:sp>
          <p:nvSpPr>
            <p:cNvPr id="40" name="圆角矩形 39"/>
            <p:cNvSpPr/>
            <p:nvPr/>
          </p:nvSpPr>
          <p:spPr>
            <a:xfrm>
              <a:off x="5580" y="3657"/>
              <a:ext cx="7213" cy="2624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3" y="3673"/>
              <a:ext cx="7109" cy="2586"/>
            </a:xfrm>
            <a:prstGeom prst="rect">
              <a:avLst/>
            </a:prstGeom>
          </p:spPr>
        </p:pic>
      </p:grpSp>
      <p:sp>
        <p:nvSpPr>
          <p:cNvPr id="42" name="文本框 1"/>
          <p:cNvSpPr txBox="1"/>
          <p:nvPr>
            <p:custDataLst>
              <p:tags r:id="rId4"/>
            </p:custDataLst>
          </p:nvPr>
        </p:nvSpPr>
        <p:spPr>
          <a:xfrm>
            <a:off x="325755" y="4726940"/>
            <a:ext cx="83705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多个人共同参与执行时，其中一个人执行提交后均会触发审核</a:t>
            </a:r>
            <a:endParaRPr lang="zh-CN" altLang="zh-CN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64427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确认状态变更至待执行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1"/>
            </p:custDataLst>
          </p:nvPr>
        </p:nvSpPr>
        <p:spPr>
          <a:xfrm>
            <a:off x="325755" y="442023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25755" y="690880"/>
            <a:ext cx="8204200" cy="1477010"/>
            <a:chOff x="584" y="1308"/>
            <a:chExt cx="12920" cy="232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" y="1308"/>
              <a:ext cx="12897" cy="2229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84" y="1308"/>
              <a:ext cx="12921" cy="2326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" name="圆角矩形 10"/>
          <p:cNvSpPr/>
          <p:nvPr/>
        </p:nvSpPr>
        <p:spPr>
          <a:xfrm>
            <a:off x="421005" y="2687320"/>
            <a:ext cx="8139430" cy="1496695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" y="2715260"/>
            <a:ext cx="8140065" cy="1396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1005" y="2687320"/>
            <a:ext cx="8139430" cy="1410970"/>
            <a:chOff x="663" y="4232"/>
            <a:chExt cx="12818" cy="222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9" y="4274"/>
              <a:ext cx="12749" cy="2181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663" y="4232"/>
              <a:ext cx="12818" cy="2223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8493" y="109401"/>
            <a:ext cx="7433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执行人根据通知去执行会议安排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42023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93700" y="889000"/>
            <a:ext cx="8205470" cy="1263650"/>
            <a:chOff x="512" y="1088"/>
            <a:chExt cx="12922" cy="199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" y="1088"/>
              <a:ext cx="12922" cy="1990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13" y="1088"/>
              <a:ext cx="12921" cy="1990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735330"/>
            <a:ext cx="7326630" cy="3352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8493" y="109401"/>
            <a:ext cx="67729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执行会议安排填写执行效果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95655" y="720725"/>
            <a:ext cx="7345680" cy="3391535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7575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43535" y="2433955"/>
            <a:ext cx="3796665" cy="1924050"/>
            <a:chOff x="541" y="3875"/>
            <a:chExt cx="5979" cy="303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41" y="3875"/>
              <a:ext cx="5979" cy="3030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541" y="3875"/>
              <a:ext cx="5979" cy="3029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38493" y="109401"/>
            <a:ext cx="71031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审核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人根据通知验收执行效果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42023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专项工作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三会召开记录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25755" y="690880"/>
            <a:ext cx="8204835" cy="1583690"/>
            <a:chOff x="513" y="1088"/>
            <a:chExt cx="12921" cy="249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" y="1088"/>
              <a:ext cx="12908" cy="2442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13" y="1088"/>
              <a:ext cx="12921" cy="2494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03470" y="2433320"/>
            <a:ext cx="3619500" cy="1929765"/>
            <a:chOff x="7442" y="3832"/>
            <a:chExt cx="5700" cy="3039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2" y="3853"/>
              <a:ext cx="5701" cy="3019"/>
            </a:xfrm>
            <a:prstGeom prst="rect">
              <a:avLst/>
            </a:prstGeom>
          </p:spPr>
        </p:pic>
        <p:sp>
          <p:nvSpPr>
            <p:cNvPr id="17" name="圆角矩形 16"/>
            <p:cNvSpPr/>
            <p:nvPr/>
          </p:nvSpPr>
          <p:spPr>
            <a:xfrm>
              <a:off x="7442" y="3832"/>
              <a:ext cx="5701" cy="3029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53263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三会召开记录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3.9.0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5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6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7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8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resource_record_key" val="{&quot;70&quot;:[3314133,3314135]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826</Words>
  <Application>WPS 演示</Application>
  <PresentationFormat>全屏显示(16:9)</PresentationFormat>
  <Paragraphs>103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Wingdings</vt:lpstr>
      <vt:lpstr>MiSans</vt:lpstr>
      <vt:lpstr>OPPOSans B</vt:lpstr>
      <vt:lpstr>OPPOSans R</vt:lpstr>
      <vt:lpstr>黑体</vt:lpstr>
      <vt:lpstr>Calibri</vt:lpstr>
      <vt:lpstr>Inter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Dylan￠</cp:lastModifiedBy>
  <cp:revision>59</cp:revision>
  <dcterms:created xsi:type="dcterms:W3CDTF">2025-02-10T02:33:00Z</dcterms:created>
  <dcterms:modified xsi:type="dcterms:W3CDTF">2025-06-30T02:33:44Z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D788C0D5C91D43B1B2706D5D08E774D9_13</vt:lpwstr>
  </property>
  <property fmtid="{D5CDD505-2E9C-101B-9397-08002B2CF9AE}" pid="3" name="KSOProductBuildVer">
    <vt:lpwstr>2052-12.1.0.21171</vt:lpwstr>
  </property>
</Properties>
</file>