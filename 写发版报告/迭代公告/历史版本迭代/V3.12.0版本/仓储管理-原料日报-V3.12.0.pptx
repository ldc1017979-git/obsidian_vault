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11" r:id="rId7"/>
    <p:sldId id="291" r:id="rId8"/>
    <p:sldId id="307" r:id="rId9"/>
    <p:sldId id="309" r:id="rId10"/>
    <p:sldId id="306" r:id="rId11"/>
    <p:sldId id="310" r:id="rId12"/>
    <p:sldId id="305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61849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原料日报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9780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3.12.0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14142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4236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3423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原料库存日报导入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29229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日报基础资料维护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745658" y="3016259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763093" y="3016259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原料日报汇总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464185" y="3062605"/>
            <a:ext cx="8367395" cy="1974850"/>
          </a:xfrm>
          <a:prstGeom prst="roundRect">
            <a:avLst>
              <a:gd name="adj" fmla="val 10409"/>
            </a:avLst>
          </a:prstGeom>
          <a:solidFill>
            <a:schemeClr val="accent1">
              <a:alpha val="32000"/>
            </a:schemeClr>
          </a:solidFill>
          <a:ln>
            <a:solidFill>
              <a:schemeClr val="accent1">
                <a:lumMod val="75000"/>
                <a:alpha val="3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480060" y="1033145"/>
            <a:ext cx="8367395" cy="1769110"/>
          </a:xfrm>
          <a:prstGeom prst="roundRect">
            <a:avLst>
              <a:gd name="adj" fmla="val 10409"/>
            </a:avLst>
          </a:prstGeom>
          <a:solidFill>
            <a:schemeClr val="accent1">
              <a:alpha val="32000"/>
            </a:schemeClr>
          </a:solidFill>
          <a:ln>
            <a:solidFill>
              <a:schemeClr val="accent1">
                <a:lumMod val="75000"/>
                <a:alpha val="3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8493" y="109401"/>
            <a:ext cx="33267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1.1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日报表单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原始表单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060" y="545949"/>
            <a:ext cx="75574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PixPin_2025-08-18_09-03-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580" y="3549650"/>
            <a:ext cx="6149340" cy="13252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r="24986"/>
          <a:stretch>
            <a:fillRect/>
          </a:stretch>
        </p:blipFill>
        <p:spPr>
          <a:xfrm>
            <a:off x="1244600" y="1409065"/>
            <a:ext cx="5183505" cy="12426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文本框 14"/>
          <p:cNvSpPr txBox="1"/>
          <p:nvPr/>
        </p:nvSpPr>
        <p:spPr>
          <a:xfrm>
            <a:off x="464185" y="1036955"/>
            <a:ext cx="28149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①各仓库报表统计</a:t>
            </a:r>
            <a:endParaRPr lang="zh-CN" altLang="en-US" sz="16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0060" y="3119120"/>
            <a:ext cx="5070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②按物料统计汇总，并</a:t>
            </a:r>
            <a:r>
              <a:rPr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计算库存产量和可生产天数</a:t>
            </a:r>
            <a:endParaRPr lang="zh-CN" altLang="en-US" sz="16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rcRect l="74784"/>
          <a:stretch>
            <a:fillRect/>
          </a:stretch>
        </p:blipFill>
        <p:spPr>
          <a:xfrm>
            <a:off x="6852920" y="3636645"/>
            <a:ext cx="1742440" cy="12426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下箭头 22"/>
          <p:cNvSpPr/>
          <p:nvPr/>
        </p:nvSpPr>
        <p:spPr>
          <a:xfrm>
            <a:off x="4504055" y="2715260"/>
            <a:ext cx="319405" cy="4178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41020" y="66484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概述：根据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原始表单进行日报基础配置</a:t>
            </a:r>
            <a:endParaRPr lang="zh-CN" altLang="en-US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3267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1.2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日报基础资料维护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060" y="545949"/>
            <a:ext cx="75574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1150" y="697865"/>
            <a:ext cx="8514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、选择原料批量添加（使用前维护物料基础数据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货品管理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、维护原料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标准单耗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万罐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、每天生产量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箱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、单价、生产天数预警</a:t>
            </a:r>
            <a:endParaRPr lang="zh-CN" altLang="en-US" sz="16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1150" y="4488180"/>
            <a:ext cx="6317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注：各基地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每天生产量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箱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)”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已配置默认值，可直接使用保存</a:t>
            </a:r>
            <a:endParaRPr lang="zh-CN" altLang="en-US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8715" y="2456180"/>
            <a:ext cx="2730500" cy="130937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图片 9" descr="PixPin_2025-08-17_16-33-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1378585"/>
            <a:ext cx="5683250" cy="2784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429260" y="2320290"/>
            <a:ext cx="456565" cy="2190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920115" y="2265045"/>
            <a:ext cx="1042035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①添加原料货品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3940175" y="3430905"/>
            <a:ext cx="1729105" cy="2190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6390640" y="3888740"/>
            <a:ext cx="1104900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②维护相关信息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>
            <a:stCxn id="14" idx="3"/>
          </p:cNvCxnSpPr>
          <p:nvPr/>
        </p:nvCxnSpPr>
        <p:spPr>
          <a:xfrm>
            <a:off x="5669280" y="3540760"/>
            <a:ext cx="70739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原料库存日报导入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763093" y="1225507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日报基础资料维护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3745658" y="3201679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4763093" y="3201679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原料日报汇总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131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原料库存日报导入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060" y="545949"/>
            <a:ext cx="75574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6565" y="697865"/>
            <a:ext cx="6110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功能描述：按仓库导入本仓库期末库存数据，数据来源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PixPin_2025-08-17_16-42-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0" y="1141095"/>
            <a:ext cx="8260080" cy="3482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7563485" y="2521585"/>
            <a:ext cx="834390" cy="2190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292215" y="2073275"/>
            <a:ext cx="1877060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各仓库提交数据后，支持审批流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13131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原料库存日报导入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060" y="545949"/>
            <a:ext cx="75574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6565" y="697865"/>
            <a:ext cx="69462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数据来源：将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SAP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导出数据，按仓库导入到本报表中，完成后提审自动汇总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6555" y="4346575"/>
            <a:ext cx="6942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问题描述：首次导入时，没有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上期库存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数据，如何添加数据？</a:t>
            </a:r>
            <a:endParaRPr lang="zh-CN" altLang="en-US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处理方式：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将该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上期库存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加到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本期入库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数中，即首次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本期入库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本期入库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上期库存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555" y="1189990"/>
            <a:ext cx="7715885" cy="2969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3029585" y="1917065"/>
            <a:ext cx="2494915" cy="2190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497205" y="2136775"/>
            <a:ext cx="1340485" cy="2546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3896360" y="1642745"/>
            <a:ext cx="1115695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①选择仓库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77060" y="2160270"/>
            <a:ext cx="1581785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②添加或导入数据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012055" y="3782695"/>
            <a:ext cx="1380490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③本期出入数量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13525" y="3782695"/>
            <a:ext cx="2152650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④记录不良数</a:t>
            </a:r>
            <a:b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（该数量属于本期库存内，不参与计算）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5012690" y="2391410"/>
            <a:ext cx="1174750" cy="13404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6613525" y="2391410"/>
            <a:ext cx="599440" cy="134048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29" name="直接箭头连接符 28"/>
          <p:cNvCxnSpPr>
            <a:stCxn id="21" idx="1"/>
          </p:cNvCxnSpPr>
          <p:nvPr/>
        </p:nvCxnSpPr>
        <p:spPr>
          <a:xfrm flipH="1">
            <a:off x="1843405" y="2026920"/>
            <a:ext cx="1186180" cy="895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endCxn id="27" idx="1"/>
          </p:cNvCxnSpPr>
          <p:nvPr/>
        </p:nvCxnSpPr>
        <p:spPr>
          <a:xfrm>
            <a:off x="1656080" y="2397125"/>
            <a:ext cx="3356610" cy="6648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  <a:endCxn id="28" idx="1"/>
          </p:cNvCxnSpPr>
          <p:nvPr/>
        </p:nvCxnSpPr>
        <p:spPr>
          <a:xfrm>
            <a:off x="6187440" y="3061970"/>
            <a:ext cx="42608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90544" y="309041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45658" y="2233939"/>
            <a:ext cx="57785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02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3093" y="2264716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原料库存日报导入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763093" y="1225507"/>
            <a:ext cx="28244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日报基础资料维护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3745658" y="3201679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4763093" y="3201679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原料日报汇总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238760" y="3536950"/>
            <a:ext cx="5872480" cy="1291590"/>
          </a:xfrm>
          <a:prstGeom prst="roundRect">
            <a:avLst>
              <a:gd name="adj" fmla="val 8791"/>
            </a:avLst>
          </a:prstGeom>
          <a:solidFill>
            <a:schemeClr val="accent1">
              <a:alpha val="32000"/>
            </a:schemeClr>
          </a:solidFill>
          <a:ln>
            <a:solidFill>
              <a:schemeClr val="accent1">
                <a:lumMod val="75000"/>
                <a:alpha val="3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8493" y="109401"/>
            <a:ext cx="266636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原料日报汇总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060" y="545949"/>
            <a:ext cx="75574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PixPin_2025-08-17_16-51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150" y="1141095"/>
            <a:ext cx="7535545" cy="21437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665" y="3670935"/>
            <a:ext cx="2730500" cy="1309370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30" name="直接箭头连接符 29"/>
          <p:cNvCxnSpPr/>
          <p:nvPr/>
        </p:nvCxnSpPr>
        <p:spPr>
          <a:xfrm>
            <a:off x="6043295" y="2467610"/>
            <a:ext cx="1007110" cy="11842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7090410" y="3340735"/>
            <a:ext cx="1894205" cy="274320"/>
          </a:xfrm>
          <a:prstGeom prst="rect">
            <a:avLst/>
          </a:prstGeom>
          <a:ln>
            <a:noFill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来源配置中的计算和生产天预警</a:t>
            </a:r>
            <a:endParaRPr lang="zh-CN" altLang="en-US" sz="9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8300" y="697865"/>
            <a:ext cx="8267065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按日报导入的数据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汇总，看到系统计算出来的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可生产万罐量、可生产天数、库存金额</a:t>
            </a:r>
            <a:endParaRPr lang="zh-CN" altLang="en-US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6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1" name="图片 10" descr="PixPin_2025-08-18_09-03-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50" y="3766820"/>
            <a:ext cx="4398645" cy="9480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l="74784"/>
          <a:stretch>
            <a:fillRect/>
          </a:stretch>
        </p:blipFill>
        <p:spPr>
          <a:xfrm>
            <a:off x="4672330" y="3825240"/>
            <a:ext cx="1247140" cy="88963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" name="直接箭头连接符 12"/>
          <p:cNvCxnSpPr/>
          <p:nvPr/>
        </p:nvCxnSpPr>
        <p:spPr>
          <a:xfrm flipH="1" flipV="1">
            <a:off x="5800725" y="2559050"/>
            <a:ext cx="6985" cy="13227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968240" y="3595370"/>
            <a:ext cx="75755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9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与报表一致</a:t>
            </a:r>
            <a:endParaRPr lang="zh-CN" altLang="en-US" sz="9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2032635" y="4074795"/>
            <a:ext cx="1011555" cy="6394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2960370" y="3154045"/>
            <a:ext cx="5080" cy="9207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2607310" y="2058035"/>
            <a:ext cx="608330" cy="10960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2965450" y="3536950"/>
            <a:ext cx="141605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9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首次导数已将上期合并</a:t>
            </a:r>
            <a:endParaRPr lang="zh-CN" altLang="en-US" sz="9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39738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数智工厂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原料日报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3.12.0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08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2.4158267716535,&quot;left&quot;:294.93370078740156,&quot;top&quot;:95.28488188976378,&quot;width&quot;:324.62771653543314}"/>
</p:tagLst>
</file>

<file path=ppt/tags/tag2.xml><?xml version="1.0" encoding="utf-8"?>
<p:tagLst xmlns:p="http://schemas.openxmlformats.org/presentationml/2006/main">
  <p:tag name="KSO_WM_DIAGRAM_VIRTUALLY_FRAME" val="{&quot;height&quot;:212.4158267716535,&quot;left&quot;:294.93370078740156,&quot;top&quot;:95.28488188976378,&quot;width&quot;:324.62771653543314}"/>
</p:tagLst>
</file>

<file path=ppt/tags/tag3.xml><?xml version="1.0" encoding="utf-8"?>
<p:tagLst xmlns:p="http://schemas.openxmlformats.org/presentationml/2006/main">
  <p:tag name="KSO_WM_DIAGRAM_VIRTUALLY_FRAME" val="{&quot;height&quot;:212.4158267716535,&quot;left&quot;:294.93370078740156,&quot;top&quot;:95.28488188976378,&quot;width&quot;:324.62771653543314}"/>
</p:tagLst>
</file>

<file path=ppt/tags/tag4.xml><?xml version="1.0" encoding="utf-8"?>
<p:tagLst xmlns:p="http://schemas.openxmlformats.org/presentationml/2006/main">
  <p:tag name="KSO_WM_DIAGRAM_VIRTUALLY_FRAME" val="{&quot;height&quot;:212.4158267716535,&quot;left&quot;:294.93370078740156,&quot;top&quot;:95.28488188976378,&quot;width&quot;:324.62771653543314}"/>
</p:tagLst>
</file>

<file path=ppt/tags/tag5.xml><?xml version="1.0" encoding="utf-8"?>
<p:tagLst xmlns:p="http://schemas.openxmlformats.org/presentationml/2006/main">
  <p:tag name="KSO_WM_DIAGRAM_VIRTUALLY_FRAME" val="{&quot;height&quot;:212.4158267716535,&quot;left&quot;:294.93370078740156,&quot;top&quot;:95.28488188976378,&quot;width&quot;:324.62771653543314}"/>
</p:tagLst>
</file>

<file path=ppt/tags/tag6.xml><?xml version="1.0" encoding="utf-8"?>
<p:tagLst xmlns:p="http://schemas.openxmlformats.org/presentationml/2006/main">
  <p:tag name="KSO_WM_DIAGRAM_VIRTUALLY_FRAME" val="{&quot;height&quot;:212.4158267716535,&quot;left&quot;:294.93370078740156,&quot;top&quot;:95.28488188976378,&quot;width&quot;:324.62771653543314}"/>
</p:tagLst>
</file>

<file path=ppt/tags/tag7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8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9.xml><?xml version="1.0" encoding="utf-8"?>
<p:tagLst xmlns:p="http://schemas.openxmlformats.org/presentationml/2006/main">
  <p:tag name="KSO_WM_DIAGRAM_VIRTUALLY_FRAME" val="{&quot;height&quot;:227.0158267716535,&quot;left&quot;:282.71999999999997,&quot;top&quot;:95.28488188976378,&quot;width&quot;:437.28000000000003}"/>
</p:tagLst>
</file>

<file path=ppt/tags/tag10.xml><?xml version="1.0" encoding="utf-8"?>
<p:tagLst xmlns:p="http://schemas.openxmlformats.org/presentationml/2006/main">
  <p:tag name="KSO_WM_DIAGRAM_VIRTUALLY_FRAME" val="{&quot;height&quot;:227.0158267716535,&quot;left&quot;:282.71999999999997,&quot;top&quot;:95.28488188976378,&quot;width&quot;:437.28000000000003}"/>
</p:tagLst>
</file>

<file path=ppt/tags/tag11.xml><?xml version="1.0" encoding="utf-8"?>
<p:tagLst xmlns:p="http://schemas.openxmlformats.org/presentationml/2006/main">
  <p:tag name="KSO_WM_DIAGRAM_VIRTUALLY_FRAME" val="{&quot;height&quot;:227.0158267716535,&quot;left&quot;:282.71999999999997,&quot;top&quot;:95.28488188976378,&quot;width&quot;:437.28000000000003}"/>
</p:tagLst>
</file>

<file path=ppt/tags/tag12.xml><?xml version="1.0" encoding="utf-8"?>
<p:tagLst xmlns:p="http://schemas.openxmlformats.org/presentationml/2006/main">
  <p:tag name="KSO_WM_DIAGRAM_VIRTUALLY_FRAME" val="{&quot;height&quot;:227.0158267716535,&quot;left&quot;:282.71999999999997,&quot;top&quot;:95.28488188976378,&quot;width&quot;:437.28000000000003}"/>
</p:tagLst>
</file>

<file path=ppt/tags/tag13.xml><?xml version="1.0" encoding="utf-8"?>
<p:tagLst xmlns:p="http://schemas.openxmlformats.org/presentationml/2006/main">
  <p:tag name="KSO_WM_DIAGRAM_VIRTUALLY_FRAME" val="{&quot;height&quot;:227.0158267716535,&quot;left&quot;:282.71999999999997,&quot;top&quot;:95.28488188976378,&quot;width&quot;:437.28000000000003}"/>
</p:tagLst>
</file>

<file path=ppt/tags/tag14.xml><?xml version="1.0" encoding="utf-8"?>
<p:tagLst xmlns:p="http://schemas.openxmlformats.org/presentationml/2006/main">
  <p:tag name="KSO_WM_DIAGRAM_VIRTUALLY_FRAME" val="{&quot;height&quot;:227.0158267716535,&quot;left&quot;:282.71999999999997,&quot;top&quot;:95.28488188976378,&quot;width&quot;:437.28000000000003}"/>
</p:tagLst>
</file>

<file path=ppt/tags/tag15.xml><?xml version="1.0" encoding="utf-8"?>
<p:tagLst xmlns:p="http://schemas.openxmlformats.org/presentationml/2006/main">
  <p:tag name="KSO_WM_DIAGRAM_VIRTUALLY_FRAME" val="{&quot;height&quot;:227.0158267716535,&quot;left&quot;:282.71999999999997,&quot;top&quot;:95.28488188976378,&quot;width&quot;:437.28000000000003}"/>
</p:tagLst>
</file>

<file path=ppt/tags/tag16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17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18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19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20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21.xml><?xml version="1.0" encoding="utf-8"?>
<p:tagLst xmlns:p="http://schemas.openxmlformats.org/presentationml/2006/main">
  <p:tag name="KSO_WM_DIAGRAM_VIRTUALLY_FRAME" val="{&quot;height&quot;:204.37850393700785,&quot;left&quot;:282.71999999999997,&quot;top&quot;:95.28488188976378,&quot;width&quot;:437.28000000000003}"/>
</p:tagLst>
</file>

<file path=ppt/tags/tag22.xml><?xml version="1.0" encoding="utf-8"?>
<p:tagLst xmlns:p="http://schemas.openxmlformats.org/presentationml/2006/main">
  <p:tag name="KSO_WM_DIAGRAM_VIRTUALLY_FRAME" val="{&quot;height&quot;:204.37850393700785,&quot;left&quot;:282.71999999999997,&quot;top&quot;:95.28488188976378,&quot;width&quot;:437.28000000000003}"/>
</p:tagLst>
</file>

<file path=ppt/tags/tag23.xml><?xml version="1.0" encoding="utf-8"?>
<p:tagLst xmlns:p="http://schemas.openxmlformats.org/presentationml/2006/main">
  <p:tag name="KSO_WM_DIAGRAM_VIRTUALLY_FRAME" val="{&quot;height&quot;:204.37850393700785,&quot;left&quot;:282.71999999999997,&quot;top&quot;:95.28488188976378,&quot;width&quot;:437.28000000000003}"/>
</p:tagLst>
</file>

<file path=ppt/tags/tag24.xml><?xml version="1.0" encoding="utf-8"?>
<p:tagLst xmlns:p="http://schemas.openxmlformats.org/presentationml/2006/main">
  <p:tag name="KSO_WM_DIAGRAM_VIRTUALLY_FRAME" val="{&quot;height&quot;:204.37850393700785,&quot;left&quot;:282.71999999999997,&quot;top&quot;:95.28488188976378,&quot;width&quot;:437.28000000000003}"/>
</p:tagLst>
</file>

<file path=ppt/tags/tag25.xml><?xml version="1.0" encoding="utf-8"?>
<p:tagLst xmlns:p="http://schemas.openxmlformats.org/presentationml/2006/main">
  <p:tag name="KSO_WM_DIAGRAM_VIRTUALLY_FRAME" val="{&quot;height&quot;:204.37850393700785,&quot;left&quot;:282.71999999999997,&quot;top&quot;:95.28488188976378,&quot;width&quot;:437.28000000000003}"/>
</p:tagLst>
</file>

<file path=ppt/tags/tag26.xml><?xml version="1.0" encoding="utf-8"?>
<p:tagLst xmlns:p="http://schemas.openxmlformats.org/presentationml/2006/main">
  <p:tag name="KSO_WM_DIAGRAM_VIRTUALLY_FRAME" val="{&quot;height&quot;:204.37850393700785,&quot;left&quot;:282.71999999999997,&quot;top&quot;:95.28488188976378,&quot;width&quot;:437.28000000000003}"/>
</p:tagLst>
</file>

<file path=ppt/tags/tag27.xml><?xml version="1.0" encoding="utf-8"?>
<p:tagLst xmlns:p="http://schemas.openxmlformats.org/presentationml/2006/main">
  <p:tag name="KSO_WM_DIAGRAM_VIRTUALLY_FRAME" val="{&quot;height&quot;:204.37850393700785,&quot;left&quot;:282.71999999999997,&quot;top&quot;:95.28488188976378,&quot;width&quot;:437.28000000000003}"/>
</p:tagLst>
</file>

<file path=ppt/tags/tag28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29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822</Words>
  <Application>WPS 演示</Application>
  <PresentationFormat>全屏显示(16:9)</PresentationFormat>
  <Paragraphs>139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陈胡安Juan</cp:lastModifiedBy>
  <cp:revision>81</cp:revision>
  <dcterms:created xsi:type="dcterms:W3CDTF">2025-02-10T02:33:00Z</dcterms:created>
  <dcterms:modified xsi:type="dcterms:W3CDTF">2025-08-18T01:29:43Z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2052-12.1.0.22529</vt:lpwstr>
  </property>
</Properties>
</file>