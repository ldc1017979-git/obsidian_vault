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3"/>
    <p:sldId id="262" r:id="rId5"/>
    <p:sldId id="295" r:id="rId6"/>
    <p:sldId id="291" r:id="rId7"/>
    <p:sldId id="313" r:id="rId8"/>
    <p:sldId id="309" r:id="rId9"/>
    <p:sldId id="307" r:id="rId10"/>
    <p:sldId id="312" r:id="rId11"/>
    <p:sldId id="317" r:id="rId12"/>
    <p:sldId id="305" r:id="rId13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C53D9"/>
    <a:srgbClr val="F7A3A3"/>
    <a:srgbClr val="FDE7E7"/>
    <a:srgbClr val="D95D61"/>
    <a:srgbClr val="DB696D"/>
    <a:srgbClr val="D44D51"/>
    <a:srgbClr val="C3C3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98" d="100"/>
          <a:sy n="198" d="100"/>
        </p:scale>
        <p:origin x="1542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9F60A8-5704-417B-9342-B9521C3015A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FEE847-FC93-470B-B269-6988605DEEB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FEE847-FC93-470B-B269-6988605DEEB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5FEE847-FC93-470B-B269-6988605DEEB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8253790A-1444-42BB-A3FD-C54F8913CC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A8752151-84B4-4828-BF39-C01E5203AF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8253790A-1444-42BB-A3FD-C54F8913CC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A8752151-84B4-4828-BF39-C01E5203AF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8253790A-1444-42BB-A3FD-C54F8913CC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A8752151-84B4-4828-BF39-C01E5203AF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8253790A-1444-42BB-A3FD-C54F8913CC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A8752151-84B4-4828-BF39-C01E5203AF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8253790A-1444-42BB-A3FD-C54F8913CC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A8752151-84B4-4828-BF39-C01E5203AF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8253790A-1444-42BB-A3FD-C54F8913CC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A8752151-84B4-4828-BF39-C01E5203AF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8253790A-1444-42BB-A3FD-C54F8913CC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A8752151-84B4-4828-BF39-C01E5203AF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8253790A-1444-42BB-A3FD-C54F8913CC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A8752151-84B4-4828-BF39-C01E5203AF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8253790A-1444-42BB-A3FD-C54F8913CC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A8752151-84B4-4828-BF39-C01E5203AF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8253790A-1444-42BB-A3FD-C54F8913CC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A8752151-84B4-4828-BF39-C01E5203AF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8253790A-1444-42BB-A3FD-C54F8913CC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A8752151-84B4-4828-BF39-C01E5203AF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2382" y="173076"/>
            <a:ext cx="775853" cy="25963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.png"/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17.xml"/><Relationship Id="rId8" Type="http://schemas.openxmlformats.org/officeDocument/2006/relationships/tags" Target="../tags/tag16.xml"/><Relationship Id="rId7" Type="http://schemas.openxmlformats.org/officeDocument/2006/relationships/tags" Target="../tags/tag15.xml"/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0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26.xml"/><Relationship Id="rId8" Type="http://schemas.openxmlformats.org/officeDocument/2006/relationships/tags" Target="../tags/tag25.xml"/><Relationship Id="rId7" Type="http://schemas.openxmlformats.org/officeDocument/2006/relationships/tags" Target="../tags/tag24.xml"/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4" Type="http://schemas.openxmlformats.org/officeDocument/2006/relationships/slideLayout" Target="../slideLayouts/slideLayout2.xml"/><Relationship Id="rId13" Type="http://schemas.openxmlformats.org/officeDocument/2006/relationships/tags" Target="../tags/tag30.xml"/><Relationship Id="rId12" Type="http://schemas.openxmlformats.org/officeDocument/2006/relationships/tags" Target="../tags/tag29.xml"/><Relationship Id="rId11" Type="http://schemas.openxmlformats.org/officeDocument/2006/relationships/tags" Target="../tags/tag28.xml"/><Relationship Id="rId10" Type="http://schemas.openxmlformats.org/officeDocument/2006/relationships/tags" Target="../tags/tag27.xml"/><Relationship Id="rId1" Type="http://schemas.openxmlformats.org/officeDocument/2006/relationships/tags" Target="../tags/tag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39.xml"/><Relationship Id="rId8" Type="http://schemas.openxmlformats.org/officeDocument/2006/relationships/tags" Target="../tags/tag38.xml"/><Relationship Id="rId7" Type="http://schemas.openxmlformats.org/officeDocument/2006/relationships/tags" Target="../tags/tag37.xml"/><Relationship Id="rId6" Type="http://schemas.openxmlformats.org/officeDocument/2006/relationships/tags" Target="../tags/tag36.xml"/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4" Type="http://schemas.openxmlformats.org/officeDocument/2006/relationships/slideLayout" Target="../slideLayouts/slideLayout2.xml"/><Relationship Id="rId13" Type="http://schemas.openxmlformats.org/officeDocument/2006/relationships/tags" Target="../tags/tag43.xml"/><Relationship Id="rId12" Type="http://schemas.openxmlformats.org/officeDocument/2006/relationships/tags" Target="../tags/tag42.xml"/><Relationship Id="rId11" Type="http://schemas.openxmlformats.org/officeDocument/2006/relationships/tags" Target="../tags/tag41.xml"/><Relationship Id="rId10" Type="http://schemas.openxmlformats.org/officeDocument/2006/relationships/tags" Target="../tags/tag40.xml"/><Relationship Id="rId1" Type="http://schemas.openxmlformats.org/officeDocument/2006/relationships/tags" Target="../tags/tag3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.png"/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1497627" y="4843263"/>
            <a:ext cx="6148747" cy="24622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pPr algn="dist"/>
            <a:r>
              <a:rPr lang="zh-CN" altLang="en-US" sz="1000" spc="284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一切以客户为中心 </a:t>
            </a:r>
            <a:r>
              <a:rPr lang="en-US" altLang="zh-CN" sz="1000" spc="284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1000" spc="284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诚信 </a:t>
            </a:r>
            <a:r>
              <a:rPr lang="en-US" altLang="zh-CN" sz="1000" spc="284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1000" spc="284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创新 </a:t>
            </a:r>
            <a:r>
              <a:rPr lang="en-US" altLang="zh-CN" sz="1000" spc="284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1000" spc="284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高效 </a:t>
            </a:r>
            <a:r>
              <a:rPr lang="en-US" altLang="zh-CN" sz="1000" spc="284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1000" spc="284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奋斗</a:t>
            </a:r>
            <a:endParaRPr lang="zh-CN" altLang="en-US" sz="1000" spc="284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32197" y="3188613"/>
            <a:ext cx="76796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汇报人：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XXX       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时间：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2023.03. 08</a:t>
            </a:r>
            <a:endParaRPr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 cstate="print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19" name="图形 18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0446" y="4674871"/>
            <a:ext cx="4041734" cy="184705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53D9">
              <a:alpha val="61000"/>
            </a:srgbClr>
          </a:solidFill>
          <a:ln>
            <a:solidFill>
              <a:srgbClr val="1C53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287" y="479221"/>
            <a:ext cx="1055019" cy="353264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600400" y="1733014"/>
            <a:ext cx="6184900" cy="6756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数智工厂</a:t>
            </a:r>
            <a:r>
              <a:rPr lang="en-US" altLang="zh-CN" sz="3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38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设备模块</a:t>
            </a:r>
            <a:r>
              <a:rPr lang="zh-CN" altLang="en-US" sz="3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使用手册</a:t>
            </a:r>
            <a:endParaRPr lang="zh-CN" altLang="en-US" sz="3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600400" y="2740650"/>
            <a:ext cx="2138680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版本号：数智工厂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3.10.0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版本</a:t>
            </a:r>
            <a:endParaRPr lang="zh-CN" altLang="en-US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600400" y="3084279"/>
            <a:ext cx="1948815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   间：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2025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07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15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</a:t>
            </a:r>
            <a:endParaRPr lang="zh-CN" altLang="en-US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3590544" y="1100328"/>
            <a:ext cx="5553456" cy="713232"/>
          </a:xfrm>
          <a:prstGeom prst="rect">
            <a:avLst/>
          </a:prstGeom>
          <a:solidFill>
            <a:srgbClr val="1C53D9"/>
          </a:solidFill>
          <a:ln>
            <a:noFill/>
          </a:ln>
          <a:effectLst>
            <a:outerShdw blurRad="63500" dist="25400" dir="5400000" algn="ctr" rotWithShape="0">
              <a:srgbClr val="1C53D9">
                <a:alpha val="4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3745658" y="2233939"/>
            <a:ext cx="6270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C3C3C3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02</a:t>
            </a:r>
            <a:endParaRPr lang="zh-CN" altLang="en-US" sz="2800" b="1" dirty="0">
              <a:solidFill>
                <a:srgbClr val="C3C3C3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+mn-lt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275570" y="1050685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zh-CN" altLang="en-US" sz="4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lang="zh-CN" altLang="en-US" sz="4000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39160" y="1648362"/>
            <a:ext cx="19591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Contents</a:t>
            </a:r>
            <a:endParaRPr lang="zh-CN" altLang="en-US" sz="3200" b="1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sp>
        <p:nvSpPr>
          <p:cNvPr id="13" name="文本框 12"/>
          <p:cNvSpPr txBox="1"/>
          <p:nvPr>
            <p:custDataLst>
              <p:tags r:id="rId2"/>
            </p:custDataLst>
          </p:nvPr>
        </p:nvSpPr>
        <p:spPr>
          <a:xfrm>
            <a:off x="4763093" y="2264716"/>
            <a:ext cx="2164080" cy="4914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能耗周期</a:t>
            </a: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统计</a:t>
            </a:r>
            <a:endParaRPr lang="zh-CN" altLang="en-US" sz="26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6" name="文本框 15"/>
          <p:cNvSpPr txBox="1"/>
          <p:nvPr>
            <p:custDataLst>
              <p:tags r:id="rId3"/>
            </p:custDataLst>
          </p:nvPr>
        </p:nvSpPr>
        <p:spPr>
          <a:xfrm>
            <a:off x="3745658" y="1210118"/>
            <a:ext cx="57785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2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01</a:t>
            </a:r>
            <a:endParaRPr lang="zh-CN" altLang="en-US" sz="2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7" name="文本框 16"/>
          <p:cNvSpPr txBox="1"/>
          <p:nvPr>
            <p:custDataLst>
              <p:tags r:id="rId4"/>
            </p:custDataLst>
          </p:nvPr>
        </p:nvSpPr>
        <p:spPr>
          <a:xfrm>
            <a:off x="4763093" y="1225507"/>
            <a:ext cx="1833880" cy="4914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2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能耗日</a:t>
            </a:r>
            <a:r>
              <a:rPr lang="zh-CN" altLang="en-US" sz="2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报表</a:t>
            </a:r>
            <a:endParaRPr lang="zh-CN" altLang="en-US" sz="2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26" name="组合 25"/>
          <p:cNvGrpSpPr/>
          <p:nvPr/>
        </p:nvGrpSpPr>
        <p:grpSpPr>
          <a:xfrm>
            <a:off x="8151213" y="4829810"/>
            <a:ext cx="430983" cy="84582"/>
            <a:chOff x="8171533" y="4906010"/>
            <a:chExt cx="430983" cy="84582"/>
          </a:xfrm>
        </p:grpSpPr>
        <p:sp>
          <p:nvSpPr>
            <p:cNvPr id="22" name="椭圆 21"/>
            <p:cNvSpPr/>
            <p:nvPr/>
          </p:nvSpPr>
          <p:spPr>
            <a:xfrm>
              <a:off x="8517934" y="4906010"/>
              <a:ext cx="84582" cy="84582"/>
            </a:xfrm>
            <a:prstGeom prst="ellipse">
              <a:avLst/>
            </a:prstGeom>
            <a:solidFill>
              <a:srgbClr val="D44D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椭圆 22"/>
            <p:cNvSpPr/>
            <p:nvPr/>
          </p:nvSpPr>
          <p:spPr>
            <a:xfrm>
              <a:off x="8344734" y="4906010"/>
              <a:ext cx="84582" cy="84582"/>
            </a:xfrm>
            <a:prstGeom prst="ellipse">
              <a:avLst/>
            </a:prstGeom>
            <a:solidFill>
              <a:srgbClr val="D44D51">
                <a:alpha val="5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椭圆 24"/>
            <p:cNvSpPr/>
            <p:nvPr/>
          </p:nvSpPr>
          <p:spPr>
            <a:xfrm>
              <a:off x="8171533" y="4906010"/>
              <a:ext cx="84582" cy="84582"/>
            </a:xfrm>
            <a:prstGeom prst="ellipse">
              <a:avLst/>
            </a:prstGeom>
            <a:solidFill>
              <a:srgbClr val="D44D51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文本框 1"/>
          <p:cNvSpPr txBox="1"/>
          <p:nvPr>
            <p:custDataLst>
              <p:tags r:id="rId5"/>
            </p:custDataLst>
          </p:nvPr>
        </p:nvSpPr>
        <p:spPr>
          <a:xfrm>
            <a:off x="3745658" y="3176914"/>
            <a:ext cx="62709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 dirty="0">
                <a:solidFill>
                  <a:srgbClr val="C3C3C3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03</a:t>
            </a:r>
            <a:endParaRPr lang="zh-CN" altLang="en-US" sz="2800" b="1" dirty="0">
              <a:solidFill>
                <a:srgbClr val="C3C3C3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+mn-lt"/>
            </a:endParaRPr>
          </a:p>
        </p:txBody>
      </p:sp>
      <p:sp>
        <p:nvSpPr>
          <p:cNvPr id="3" name="文本框 2"/>
          <p:cNvSpPr txBox="1"/>
          <p:nvPr>
            <p:custDataLst>
              <p:tags r:id="rId6"/>
            </p:custDataLst>
          </p:nvPr>
        </p:nvSpPr>
        <p:spPr>
          <a:xfrm>
            <a:off x="4763093" y="3207691"/>
            <a:ext cx="2164080" cy="49149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能耗班次</a:t>
            </a: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统计</a:t>
            </a:r>
            <a:endParaRPr lang="zh-CN" altLang="en-US" sz="26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文本框 3"/>
          <p:cNvSpPr txBox="1"/>
          <p:nvPr>
            <p:custDataLst>
              <p:tags r:id="rId7"/>
            </p:custDataLst>
          </p:nvPr>
        </p:nvSpPr>
        <p:spPr>
          <a:xfrm>
            <a:off x="3745658" y="4120524"/>
            <a:ext cx="62709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 dirty="0">
                <a:solidFill>
                  <a:srgbClr val="C3C3C3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04</a:t>
            </a:r>
            <a:endParaRPr lang="zh-CN" altLang="en-US" sz="2800" b="1" dirty="0">
              <a:solidFill>
                <a:srgbClr val="C3C3C3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+mn-lt"/>
            </a:endParaRPr>
          </a:p>
        </p:txBody>
      </p:sp>
      <p:sp>
        <p:nvSpPr>
          <p:cNvPr id="5" name="文本框 4"/>
          <p:cNvSpPr txBox="1"/>
          <p:nvPr>
            <p:custDataLst>
              <p:tags r:id="rId8"/>
            </p:custDataLst>
          </p:nvPr>
        </p:nvSpPr>
        <p:spPr>
          <a:xfrm>
            <a:off x="4763093" y="4151301"/>
            <a:ext cx="1833880" cy="49149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仪表月</a:t>
            </a: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报表</a:t>
            </a:r>
            <a:endParaRPr lang="zh-CN" altLang="en-US" sz="26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38493" y="109401"/>
            <a:ext cx="2132330" cy="4914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能耗日</a:t>
            </a: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报表</a:t>
            </a:r>
            <a:endParaRPr lang="zh-CN" altLang="en-US" sz="2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0" name="文本框 79"/>
          <p:cNvSpPr txBox="1"/>
          <p:nvPr/>
        </p:nvSpPr>
        <p:spPr>
          <a:xfrm>
            <a:off x="238929" y="802833"/>
            <a:ext cx="485648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功能描述：选择某天不同层级的仪表，统计当天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用量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0205" y="1341755"/>
            <a:ext cx="4830731" cy="3801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>
            <p:custDataLst>
              <p:tags r:id="rId1"/>
            </p:custDataLst>
          </p:nvPr>
        </p:nvSpPr>
        <p:spPr>
          <a:xfrm>
            <a:off x="3590544" y="2138553"/>
            <a:ext cx="5553456" cy="713232"/>
          </a:xfrm>
          <a:prstGeom prst="rect">
            <a:avLst/>
          </a:prstGeom>
          <a:solidFill>
            <a:srgbClr val="1C53D9"/>
          </a:solidFill>
          <a:ln>
            <a:noFill/>
          </a:ln>
          <a:effectLst>
            <a:outerShdw blurRad="63500" dist="25400" dir="5400000" algn="ctr" rotWithShape="0">
              <a:srgbClr val="1C53D9">
                <a:alpha val="4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>
            <p:custDataLst>
              <p:tags r:id="rId2"/>
            </p:custDataLst>
          </p:nvPr>
        </p:nvSpPr>
        <p:spPr>
          <a:xfrm>
            <a:off x="3745658" y="2233939"/>
            <a:ext cx="57785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2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02</a:t>
            </a:r>
            <a:endParaRPr lang="zh-CN" altLang="en-US" sz="2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275570" y="1050685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zh-CN" altLang="en-US" sz="4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lang="zh-CN" altLang="en-US" sz="4000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39160" y="1648362"/>
            <a:ext cx="19591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Contents</a:t>
            </a:r>
            <a:endParaRPr lang="zh-CN" altLang="en-US" sz="3200" b="1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sp>
        <p:nvSpPr>
          <p:cNvPr id="13" name="文本框 12"/>
          <p:cNvSpPr txBox="1"/>
          <p:nvPr>
            <p:custDataLst>
              <p:tags r:id="rId3"/>
            </p:custDataLst>
          </p:nvPr>
        </p:nvSpPr>
        <p:spPr>
          <a:xfrm>
            <a:off x="4763093" y="2264716"/>
            <a:ext cx="2164080" cy="4914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2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能耗周期统计</a:t>
            </a:r>
            <a:endParaRPr lang="zh-CN" altLang="en-US" sz="2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6" name="文本框 15"/>
          <p:cNvSpPr txBox="1"/>
          <p:nvPr>
            <p:custDataLst>
              <p:tags r:id="rId4"/>
            </p:custDataLst>
          </p:nvPr>
        </p:nvSpPr>
        <p:spPr>
          <a:xfrm>
            <a:off x="3745658" y="1210118"/>
            <a:ext cx="62709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buClrTx/>
              <a:buSzTx/>
              <a:buFontTx/>
            </a:pPr>
            <a:r>
              <a:rPr lang="en-US" altLang="zh-CN" sz="2800" b="1" dirty="0">
                <a:solidFill>
                  <a:srgbClr val="C3C3C3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01</a:t>
            </a:r>
            <a:endParaRPr lang="en-US" altLang="zh-CN" sz="2800" b="1" dirty="0">
              <a:solidFill>
                <a:srgbClr val="C3C3C3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17" name="文本框 16"/>
          <p:cNvSpPr txBox="1"/>
          <p:nvPr>
            <p:custDataLst>
              <p:tags r:id="rId5"/>
            </p:custDataLst>
          </p:nvPr>
        </p:nvSpPr>
        <p:spPr>
          <a:xfrm>
            <a:off x="4763093" y="1225507"/>
            <a:ext cx="1833880" cy="4914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2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能耗日</a:t>
            </a:r>
            <a:r>
              <a:rPr lang="zh-CN" altLang="en-US" sz="2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报表</a:t>
            </a:r>
            <a:endParaRPr lang="zh-CN" altLang="en-US" sz="2600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26" name="组合 25"/>
          <p:cNvGrpSpPr/>
          <p:nvPr/>
        </p:nvGrpSpPr>
        <p:grpSpPr>
          <a:xfrm>
            <a:off x="8151213" y="4829810"/>
            <a:ext cx="430983" cy="84582"/>
            <a:chOff x="8171533" y="4906010"/>
            <a:chExt cx="430983" cy="84582"/>
          </a:xfrm>
        </p:grpSpPr>
        <p:sp>
          <p:nvSpPr>
            <p:cNvPr id="22" name="椭圆 21"/>
            <p:cNvSpPr/>
            <p:nvPr/>
          </p:nvSpPr>
          <p:spPr>
            <a:xfrm>
              <a:off x="8517934" y="4906010"/>
              <a:ext cx="84582" cy="84582"/>
            </a:xfrm>
            <a:prstGeom prst="ellipse">
              <a:avLst/>
            </a:prstGeom>
            <a:solidFill>
              <a:srgbClr val="D44D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椭圆 22"/>
            <p:cNvSpPr/>
            <p:nvPr/>
          </p:nvSpPr>
          <p:spPr>
            <a:xfrm>
              <a:off x="8344734" y="4906010"/>
              <a:ext cx="84582" cy="84582"/>
            </a:xfrm>
            <a:prstGeom prst="ellipse">
              <a:avLst/>
            </a:prstGeom>
            <a:solidFill>
              <a:srgbClr val="D44D51">
                <a:alpha val="5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椭圆 24"/>
            <p:cNvSpPr/>
            <p:nvPr/>
          </p:nvSpPr>
          <p:spPr>
            <a:xfrm>
              <a:off x="8171533" y="4906010"/>
              <a:ext cx="84582" cy="84582"/>
            </a:xfrm>
            <a:prstGeom prst="ellipse">
              <a:avLst/>
            </a:prstGeom>
            <a:solidFill>
              <a:srgbClr val="D44D51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文本框 1"/>
          <p:cNvSpPr txBox="1"/>
          <p:nvPr>
            <p:custDataLst>
              <p:tags r:id="rId6"/>
            </p:custDataLst>
          </p:nvPr>
        </p:nvSpPr>
        <p:spPr>
          <a:xfrm>
            <a:off x="3745658" y="3257993"/>
            <a:ext cx="62709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buClrTx/>
              <a:buSzTx/>
              <a:buFontTx/>
            </a:pPr>
            <a:r>
              <a:rPr lang="en-US" altLang="zh-CN" sz="2800" b="1" dirty="0">
                <a:solidFill>
                  <a:srgbClr val="C3C3C3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03</a:t>
            </a:r>
            <a:endParaRPr lang="en-US" altLang="zh-CN" sz="2800" b="1" dirty="0">
              <a:solidFill>
                <a:srgbClr val="C3C3C3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3" name="文本框 2"/>
          <p:cNvSpPr txBox="1"/>
          <p:nvPr>
            <p:custDataLst>
              <p:tags r:id="rId7"/>
            </p:custDataLst>
          </p:nvPr>
        </p:nvSpPr>
        <p:spPr>
          <a:xfrm>
            <a:off x="4763093" y="3273382"/>
            <a:ext cx="2164080" cy="49149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lvl="0" algn="l">
              <a:buClrTx/>
              <a:buSzTx/>
              <a:buFontTx/>
            </a:pPr>
            <a:r>
              <a:rPr lang="zh-CN" altLang="en-US" sz="2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能耗班次统计</a:t>
            </a:r>
            <a:endParaRPr lang="zh-CN" altLang="en-US" sz="2600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文本框 3"/>
          <p:cNvSpPr txBox="1"/>
          <p:nvPr>
            <p:custDataLst>
              <p:tags r:id="rId8"/>
            </p:custDataLst>
          </p:nvPr>
        </p:nvSpPr>
        <p:spPr>
          <a:xfrm>
            <a:off x="3745658" y="4171123"/>
            <a:ext cx="62709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buClrTx/>
              <a:buSzTx/>
              <a:buFontTx/>
            </a:pPr>
            <a:r>
              <a:rPr lang="en-US" altLang="zh-CN" sz="2800" b="1" dirty="0">
                <a:solidFill>
                  <a:srgbClr val="C3C3C3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04</a:t>
            </a:r>
            <a:endParaRPr lang="en-US" altLang="zh-CN" sz="2800" b="1" dirty="0">
              <a:solidFill>
                <a:srgbClr val="C3C3C3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5" name="文本框 4"/>
          <p:cNvSpPr txBox="1"/>
          <p:nvPr>
            <p:custDataLst>
              <p:tags r:id="rId9"/>
            </p:custDataLst>
          </p:nvPr>
        </p:nvSpPr>
        <p:spPr>
          <a:xfrm>
            <a:off x="4763093" y="4186512"/>
            <a:ext cx="1833880" cy="49149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lvl="0" algn="l">
              <a:buClrTx/>
              <a:buSzTx/>
              <a:buFontTx/>
            </a:pPr>
            <a:r>
              <a:rPr lang="zh-CN" altLang="en-US" sz="2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仪表月报表</a:t>
            </a:r>
            <a:endParaRPr lang="zh-CN" altLang="en-US" sz="2600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38493" y="109401"/>
            <a:ext cx="2462530" cy="4914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2.</a:t>
            </a: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能耗周期统计</a:t>
            </a:r>
            <a:endParaRPr lang="zh-CN" altLang="en-US" sz="2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0" name="文本框 79"/>
          <p:cNvSpPr txBox="1"/>
          <p:nvPr/>
        </p:nvSpPr>
        <p:spPr>
          <a:xfrm>
            <a:off x="238929" y="802833"/>
            <a:ext cx="424688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功能描述：选择某个时间段，统计仪表的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用量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6865" y="1341755"/>
            <a:ext cx="4830731" cy="3801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275570" y="1050685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zh-CN" altLang="en-US" sz="4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lang="zh-CN" altLang="en-US" sz="4000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39160" y="1648362"/>
            <a:ext cx="19591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Contents</a:t>
            </a:r>
            <a:endParaRPr lang="zh-CN" altLang="en-US" sz="3200" b="1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6" name="组合 5"/>
          <p:cNvGrpSpPr/>
          <p:nvPr>
            <p:custDataLst>
              <p:tags r:id="rId1"/>
            </p:custDataLst>
          </p:nvPr>
        </p:nvGrpSpPr>
        <p:grpSpPr>
          <a:xfrm>
            <a:off x="3590544" y="3056763"/>
            <a:ext cx="5553456" cy="713232"/>
            <a:chOff x="5654" y="3368"/>
            <a:chExt cx="8746" cy="1123"/>
          </a:xfrm>
        </p:grpSpPr>
        <p:sp>
          <p:nvSpPr>
            <p:cNvPr id="7" name="矩形 6"/>
            <p:cNvSpPr/>
            <p:nvPr>
              <p:custDataLst>
                <p:tags r:id="rId2"/>
              </p:custDataLst>
            </p:nvPr>
          </p:nvSpPr>
          <p:spPr>
            <a:xfrm>
              <a:off x="5654" y="3368"/>
              <a:ext cx="8746" cy="1123"/>
            </a:xfrm>
            <a:prstGeom prst="rect">
              <a:avLst/>
            </a:prstGeom>
            <a:solidFill>
              <a:srgbClr val="1C53D9"/>
            </a:solidFill>
            <a:ln>
              <a:noFill/>
            </a:ln>
            <a:effectLst>
              <a:outerShdw blurRad="63500" dist="25400" dir="5400000" algn="ctr" rotWithShape="0">
                <a:srgbClr val="1C53D9">
                  <a:alpha val="46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文本框 8"/>
            <p:cNvSpPr txBox="1"/>
            <p:nvPr>
              <p:custDataLst>
                <p:tags r:id="rId3"/>
              </p:custDataLst>
            </p:nvPr>
          </p:nvSpPr>
          <p:spPr>
            <a:xfrm>
              <a:off x="5899" y="3518"/>
              <a:ext cx="930" cy="7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 algn="l">
                <a:buClrTx/>
                <a:buSzTx/>
                <a:buFontTx/>
              </a:pPr>
              <a:r>
                <a:rPr lang="zh-CN" altLang="en-US" sz="2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0</a:t>
              </a:r>
              <a:r>
                <a:rPr lang="en-US" altLang="zh-CN" sz="2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3</a:t>
              </a:r>
              <a:endParaRPr lang="en-US" altLang="zh-CN" sz="2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13" name="文本框 12"/>
            <p:cNvSpPr txBox="1"/>
            <p:nvPr>
              <p:custDataLst>
                <p:tags r:id="rId4"/>
              </p:custDataLst>
            </p:nvPr>
          </p:nvSpPr>
          <p:spPr>
            <a:xfrm>
              <a:off x="7501" y="3566"/>
              <a:ext cx="3408" cy="7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 algn="l">
                <a:buClrTx/>
                <a:buSzTx/>
                <a:buFontTx/>
              </a:pPr>
              <a:r>
                <a:rPr lang="zh-CN" altLang="en-US" sz="2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能耗周期统计</a:t>
              </a:r>
              <a:endParaRPr lang="zh-CN" altLang="en-US" sz="2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</p:grpSp>
      <p:grpSp>
        <p:nvGrpSpPr>
          <p:cNvPr id="12" name="组合 11"/>
          <p:cNvGrpSpPr/>
          <p:nvPr>
            <p:custDataLst>
              <p:tags r:id="rId5"/>
            </p:custDataLst>
          </p:nvPr>
        </p:nvGrpSpPr>
        <p:grpSpPr>
          <a:xfrm>
            <a:off x="3745865" y="1210310"/>
            <a:ext cx="2851150" cy="521970"/>
            <a:chOff x="5899" y="1906"/>
            <a:chExt cx="4490" cy="822"/>
          </a:xfrm>
        </p:grpSpPr>
        <p:sp>
          <p:nvSpPr>
            <p:cNvPr id="16" name="文本框 15"/>
            <p:cNvSpPr txBox="1"/>
            <p:nvPr>
              <p:custDataLst>
                <p:tags r:id="rId6"/>
              </p:custDataLst>
            </p:nvPr>
          </p:nvSpPr>
          <p:spPr>
            <a:xfrm>
              <a:off x="5899" y="1906"/>
              <a:ext cx="988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l">
                <a:buClrTx/>
                <a:buSzTx/>
                <a:buFontTx/>
              </a:pPr>
              <a:r>
                <a:rPr lang="en-US" altLang="zh-CN" sz="2800" b="1" dirty="0">
                  <a:solidFill>
                    <a:srgbClr val="C3C3C3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+mn-ea"/>
                </a:rPr>
                <a:t>01</a:t>
              </a:r>
              <a:endParaRPr lang="en-US" altLang="zh-CN" sz="2800" b="1" dirty="0">
                <a:solidFill>
                  <a:srgbClr val="C3C3C3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endParaRPr>
            </a:p>
          </p:txBody>
        </p:sp>
        <p:sp>
          <p:nvSpPr>
            <p:cNvPr id="17" name="文本框 16"/>
            <p:cNvSpPr txBox="1"/>
            <p:nvPr>
              <p:custDataLst>
                <p:tags r:id="rId7"/>
              </p:custDataLst>
            </p:nvPr>
          </p:nvSpPr>
          <p:spPr>
            <a:xfrm>
              <a:off x="7501" y="1930"/>
              <a:ext cx="2888" cy="7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 algn="l">
                <a:buClrTx/>
                <a:buSzTx/>
                <a:buFontTx/>
              </a:pPr>
              <a:r>
                <a:rPr lang="zh-CN" altLang="en-US" sz="26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能耗日报表</a:t>
              </a:r>
              <a:endParaRPr lang="zh-CN" altLang="en-US" sz="2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8151213" y="4829810"/>
            <a:ext cx="430983" cy="84582"/>
            <a:chOff x="8171533" y="4906010"/>
            <a:chExt cx="430983" cy="84582"/>
          </a:xfrm>
        </p:grpSpPr>
        <p:sp>
          <p:nvSpPr>
            <p:cNvPr id="22" name="椭圆 21"/>
            <p:cNvSpPr/>
            <p:nvPr/>
          </p:nvSpPr>
          <p:spPr>
            <a:xfrm>
              <a:off x="8517934" y="4906010"/>
              <a:ext cx="84582" cy="84582"/>
            </a:xfrm>
            <a:prstGeom prst="ellipse">
              <a:avLst/>
            </a:prstGeom>
            <a:solidFill>
              <a:srgbClr val="D44D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椭圆 22"/>
            <p:cNvSpPr/>
            <p:nvPr/>
          </p:nvSpPr>
          <p:spPr>
            <a:xfrm>
              <a:off x="8344734" y="4906010"/>
              <a:ext cx="84582" cy="84582"/>
            </a:xfrm>
            <a:prstGeom prst="ellipse">
              <a:avLst/>
            </a:prstGeom>
            <a:solidFill>
              <a:srgbClr val="D44D51">
                <a:alpha val="5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椭圆 24"/>
            <p:cNvSpPr/>
            <p:nvPr/>
          </p:nvSpPr>
          <p:spPr>
            <a:xfrm>
              <a:off x="8171533" y="4906010"/>
              <a:ext cx="84582" cy="84582"/>
            </a:xfrm>
            <a:prstGeom prst="ellipse">
              <a:avLst/>
            </a:prstGeom>
            <a:solidFill>
              <a:srgbClr val="D44D51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1" name="组合 10"/>
          <p:cNvGrpSpPr/>
          <p:nvPr>
            <p:custDataLst>
              <p:tags r:id="rId8"/>
            </p:custDataLst>
          </p:nvPr>
        </p:nvGrpSpPr>
        <p:grpSpPr>
          <a:xfrm>
            <a:off x="3745865" y="2133600"/>
            <a:ext cx="3181350" cy="521970"/>
            <a:chOff x="5899" y="3344"/>
            <a:chExt cx="5010" cy="822"/>
          </a:xfrm>
        </p:grpSpPr>
        <p:sp>
          <p:nvSpPr>
            <p:cNvPr id="2" name="文本框 1"/>
            <p:cNvSpPr txBox="1"/>
            <p:nvPr>
              <p:custDataLst>
                <p:tags r:id="rId9"/>
              </p:custDataLst>
            </p:nvPr>
          </p:nvSpPr>
          <p:spPr>
            <a:xfrm>
              <a:off x="5899" y="3344"/>
              <a:ext cx="988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lvl="0" algn="l">
                <a:buClrTx/>
                <a:buSzTx/>
                <a:buFontTx/>
              </a:pPr>
              <a:r>
                <a:rPr lang="en-US" altLang="zh-CN" sz="2800" b="1" dirty="0">
                  <a:solidFill>
                    <a:srgbClr val="C3C3C3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+mn-ea"/>
                </a:rPr>
                <a:t>02</a:t>
              </a:r>
              <a:endParaRPr lang="en-US" altLang="zh-CN" sz="2800" b="1" dirty="0">
                <a:solidFill>
                  <a:srgbClr val="C3C3C3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endParaRPr>
            </a:p>
          </p:txBody>
        </p:sp>
        <p:sp>
          <p:nvSpPr>
            <p:cNvPr id="3" name="文本框 2"/>
            <p:cNvSpPr txBox="1"/>
            <p:nvPr>
              <p:custDataLst>
                <p:tags r:id="rId10"/>
              </p:custDataLst>
            </p:nvPr>
          </p:nvSpPr>
          <p:spPr>
            <a:xfrm>
              <a:off x="7501" y="3368"/>
              <a:ext cx="3408" cy="7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lvl="0" algn="l">
                <a:buClrTx/>
                <a:buSzTx/>
                <a:buFontTx/>
              </a:pPr>
              <a:r>
                <a:rPr lang="zh-CN" altLang="en-US" sz="26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能耗周期统计</a:t>
              </a:r>
              <a:endParaRPr lang="zh-CN" altLang="en-US" sz="2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</p:grpSp>
      <p:grpSp>
        <p:nvGrpSpPr>
          <p:cNvPr id="14" name="组合 13"/>
          <p:cNvGrpSpPr/>
          <p:nvPr>
            <p:custDataLst>
              <p:tags r:id="rId11"/>
            </p:custDataLst>
          </p:nvPr>
        </p:nvGrpSpPr>
        <p:grpSpPr>
          <a:xfrm>
            <a:off x="3745865" y="4170680"/>
            <a:ext cx="2851150" cy="521970"/>
            <a:chOff x="5899" y="6569"/>
            <a:chExt cx="4490" cy="822"/>
          </a:xfrm>
        </p:grpSpPr>
        <p:sp>
          <p:nvSpPr>
            <p:cNvPr id="4" name="文本框 3"/>
            <p:cNvSpPr txBox="1"/>
            <p:nvPr>
              <p:custDataLst>
                <p:tags r:id="rId12"/>
              </p:custDataLst>
            </p:nvPr>
          </p:nvSpPr>
          <p:spPr>
            <a:xfrm>
              <a:off x="5899" y="6569"/>
              <a:ext cx="988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lvl="0" algn="l">
                <a:buClrTx/>
                <a:buSzTx/>
                <a:buFontTx/>
              </a:pPr>
              <a:r>
                <a:rPr lang="en-US" altLang="zh-CN" sz="2800" b="1" dirty="0">
                  <a:solidFill>
                    <a:srgbClr val="C3C3C3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+mn-ea"/>
                </a:rPr>
                <a:t>04</a:t>
              </a:r>
              <a:endParaRPr lang="en-US" altLang="zh-CN" sz="2800" b="1" dirty="0">
                <a:solidFill>
                  <a:srgbClr val="C3C3C3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endParaRPr>
            </a:p>
          </p:txBody>
        </p:sp>
        <p:sp>
          <p:nvSpPr>
            <p:cNvPr id="5" name="文本框 4"/>
            <p:cNvSpPr txBox="1"/>
            <p:nvPr>
              <p:custDataLst>
                <p:tags r:id="rId13"/>
              </p:custDataLst>
            </p:nvPr>
          </p:nvSpPr>
          <p:spPr>
            <a:xfrm>
              <a:off x="7501" y="6593"/>
              <a:ext cx="2888" cy="7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lvl="0" algn="l">
                <a:buClrTx/>
                <a:buSzTx/>
                <a:buFontTx/>
              </a:pPr>
              <a:r>
                <a:rPr lang="zh-CN" altLang="en-US" sz="26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仪表月报表</a:t>
              </a:r>
              <a:endParaRPr lang="zh-CN" altLang="en-US" sz="2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38493" y="109401"/>
            <a:ext cx="2462530" cy="4914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3.</a:t>
            </a: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能耗班次统计</a:t>
            </a:r>
            <a:endParaRPr lang="zh-CN" altLang="en-US" sz="26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0" name="文本框 79"/>
          <p:cNvSpPr txBox="1"/>
          <p:nvPr/>
        </p:nvSpPr>
        <p:spPr>
          <a:xfrm>
            <a:off x="238929" y="802833"/>
            <a:ext cx="587248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功能描述：</a:t>
            </a:r>
            <a:r>
              <a:rPr lang="zh-CN" altLang="en-US" sz="160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选择某天不同层级的仪表，统计当天三个班次</a:t>
            </a:r>
            <a:r>
              <a:rPr lang="zh-CN" altLang="en-US" sz="160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的用量</a:t>
            </a:r>
            <a:endParaRPr lang="zh-CN" altLang="en-US" sz="160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8760" y="1341755"/>
            <a:ext cx="4830731" cy="3801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275570" y="1050685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zh-CN" altLang="en-US" sz="4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lang="zh-CN" altLang="en-US" sz="4000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39160" y="1648362"/>
            <a:ext cx="19591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Contents</a:t>
            </a:r>
            <a:endParaRPr lang="zh-CN" altLang="en-US" sz="3200" b="1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6" name="组合 5"/>
          <p:cNvGrpSpPr/>
          <p:nvPr>
            <p:custDataLst>
              <p:tags r:id="rId1"/>
            </p:custDataLst>
          </p:nvPr>
        </p:nvGrpSpPr>
        <p:grpSpPr>
          <a:xfrm>
            <a:off x="3590544" y="4025900"/>
            <a:ext cx="5553456" cy="713105"/>
            <a:chOff x="5654" y="3368"/>
            <a:chExt cx="8746" cy="1123"/>
          </a:xfrm>
        </p:grpSpPr>
        <p:sp>
          <p:nvSpPr>
            <p:cNvPr id="7" name="矩形 6"/>
            <p:cNvSpPr/>
            <p:nvPr>
              <p:custDataLst>
                <p:tags r:id="rId2"/>
              </p:custDataLst>
            </p:nvPr>
          </p:nvSpPr>
          <p:spPr>
            <a:xfrm>
              <a:off x="5654" y="3368"/>
              <a:ext cx="8746" cy="1123"/>
            </a:xfrm>
            <a:prstGeom prst="rect">
              <a:avLst/>
            </a:prstGeom>
            <a:solidFill>
              <a:srgbClr val="1C53D9"/>
            </a:solidFill>
            <a:ln>
              <a:noFill/>
            </a:ln>
            <a:effectLst>
              <a:outerShdw blurRad="63500" dist="25400" dir="5400000" algn="ctr" rotWithShape="0">
                <a:srgbClr val="1C53D9">
                  <a:alpha val="46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文本框 8"/>
            <p:cNvSpPr txBox="1"/>
            <p:nvPr>
              <p:custDataLst>
                <p:tags r:id="rId3"/>
              </p:custDataLst>
            </p:nvPr>
          </p:nvSpPr>
          <p:spPr>
            <a:xfrm>
              <a:off x="5899" y="3518"/>
              <a:ext cx="930" cy="7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 algn="l">
                <a:buClrTx/>
                <a:buSzTx/>
                <a:buFontTx/>
              </a:pPr>
              <a:r>
                <a:rPr lang="zh-CN" altLang="en-US" sz="2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0</a:t>
              </a:r>
              <a:r>
                <a:rPr lang="en-US" altLang="zh-CN" sz="2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4</a:t>
              </a:r>
              <a:endParaRPr lang="en-US" altLang="zh-CN" sz="2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13" name="文本框 12"/>
            <p:cNvSpPr txBox="1"/>
            <p:nvPr>
              <p:custDataLst>
                <p:tags r:id="rId4"/>
              </p:custDataLst>
            </p:nvPr>
          </p:nvSpPr>
          <p:spPr>
            <a:xfrm>
              <a:off x="7501" y="3566"/>
              <a:ext cx="2888" cy="7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 algn="l">
                <a:buClrTx/>
                <a:buSzTx/>
                <a:buFontTx/>
              </a:pPr>
              <a:r>
                <a:rPr lang="zh-CN" altLang="en-US" sz="2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仪表月报表</a:t>
              </a:r>
              <a:endParaRPr lang="zh-CN" altLang="en-US" sz="2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</p:grpSp>
      <p:grpSp>
        <p:nvGrpSpPr>
          <p:cNvPr id="12" name="组合 11"/>
          <p:cNvGrpSpPr/>
          <p:nvPr>
            <p:custDataLst>
              <p:tags r:id="rId5"/>
            </p:custDataLst>
          </p:nvPr>
        </p:nvGrpSpPr>
        <p:grpSpPr>
          <a:xfrm>
            <a:off x="3745865" y="1210310"/>
            <a:ext cx="2851150" cy="521970"/>
            <a:chOff x="5899" y="1906"/>
            <a:chExt cx="4490" cy="822"/>
          </a:xfrm>
        </p:grpSpPr>
        <p:sp>
          <p:nvSpPr>
            <p:cNvPr id="16" name="文本框 15"/>
            <p:cNvSpPr txBox="1"/>
            <p:nvPr>
              <p:custDataLst>
                <p:tags r:id="rId6"/>
              </p:custDataLst>
            </p:nvPr>
          </p:nvSpPr>
          <p:spPr>
            <a:xfrm>
              <a:off x="5899" y="1906"/>
              <a:ext cx="988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l">
                <a:buClrTx/>
                <a:buSzTx/>
                <a:buFontTx/>
              </a:pPr>
              <a:r>
                <a:rPr lang="en-US" altLang="zh-CN" sz="2800" b="1" dirty="0">
                  <a:solidFill>
                    <a:srgbClr val="C3C3C3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+mn-ea"/>
                </a:rPr>
                <a:t>01</a:t>
              </a:r>
              <a:endParaRPr lang="en-US" altLang="zh-CN" sz="2800" b="1" dirty="0">
                <a:solidFill>
                  <a:srgbClr val="C3C3C3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endParaRPr>
            </a:p>
          </p:txBody>
        </p:sp>
        <p:sp>
          <p:nvSpPr>
            <p:cNvPr id="17" name="文本框 16"/>
            <p:cNvSpPr txBox="1"/>
            <p:nvPr>
              <p:custDataLst>
                <p:tags r:id="rId7"/>
              </p:custDataLst>
            </p:nvPr>
          </p:nvSpPr>
          <p:spPr>
            <a:xfrm>
              <a:off x="7501" y="1930"/>
              <a:ext cx="2888" cy="7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 algn="l">
                <a:buClrTx/>
                <a:buSzTx/>
                <a:buFontTx/>
              </a:pPr>
              <a:r>
                <a:rPr lang="zh-CN" altLang="en-US" sz="26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能耗日报表</a:t>
              </a:r>
              <a:endParaRPr lang="zh-CN" altLang="en-US" sz="2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8151213" y="4829810"/>
            <a:ext cx="430983" cy="84582"/>
            <a:chOff x="8171533" y="4906010"/>
            <a:chExt cx="430983" cy="84582"/>
          </a:xfrm>
        </p:grpSpPr>
        <p:sp>
          <p:nvSpPr>
            <p:cNvPr id="22" name="椭圆 21"/>
            <p:cNvSpPr/>
            <p:nvPr/>
          </p:nvSpPr>
          <p:spPr>
            <a:xfrm>
              <a:off x="8517934" y="4906010"/>
              <a:ext cx="84582" cy="84582"/>
            </a:xfrm>
            <a:prstGeom prst="ellipse">
              <a:avLst/>
            </a:prstGeom>
            <a:solidFill>
              <a:srgbClr val="D44D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椭圆 22"/>
            <p:cNvSpPr/>
            <p:nvPr/>
          </p:nvSpPr>
          <p:spPr>
            <a:xfrm>
              <a:off x="8344734" y="4906010"/>
              <a:ext cx="84582" cy="84582"/>
            </a:xfrm>
            <a:prstGeom prst="ellipse">
              <a:avLst/>
            </a:prstGeom>
            <a:solidFill>
              <a:srgbClr val="D44D51">
                <a:alpha val="5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椭圆 24"/>
            <p:cNvSpPr/>
            <p:nvPr/>
          </p:nvSpPr>
          <p:spPr>
            <a:xfrm>
              <a:off x="8171533" y="4906010"/>
              <a:ext cx="84582" cy="84582"/>
            </a:xfrm>
            <a:prstGeom prst="ellipse">
              <a:avLst/>
            </a:prstGeom>
            <a:solidFill>
              <a:srgbClr val="D44D51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1" name="组合 10"/>
          <p:cNvGrpSpPr/>
          <p:nvPr>
            <p:custDataLst>
              <p:tags r:id="rId8"/>
            </p:custDataLst>
          </p:nvPr>
        </p:nvGrpSpPr>
        <p:grpSpPr>
          <a:xfrm>
            <a:off x="3745865" y="2148840"/>
            <a:ext cx="3181350" cy="521970"/>
            <a:chOff x="5899" y="3344"/>
            <a:chExt cx="5010" cy="822"/>
          </a:xfrm>
        </p:grpSpPr>
        <p:sp>
          <p:nvSpPr>
            <p:cNvPr id="2" name="文本框 1"/>
            <p:cNvSpPr txBox="1"/>
            <p:nvPr>
              <p:custDataLst>
                <p:tags r:id="rId9"/>
              </p:custDataLst>
            </p:nvPr>
          </p:nvSpPr>
          <p:spPr>
            <a:xfrm>
              <a:off x="5899" y="3344"/>
              <a:ext cx="988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lvl="0" algn="l">
                <a:buClrTx/>
                <a:buSzTx/>
                <a:buFontTx/>
              </a:pPr>
              <a:r>
                <a:rPr lang="en-US" altLang="zh-CN" sz="2800" b="1" dirty="0">
                  <a:solidFill>
                    <a:srgbClr val="C3C3C3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+mn-ea"/>
                </a:rPr>
                <a:t>02</a:t>
              </a:r>
              <a:endParaRPr lang="en-US" altLang="zh-CN" sz="2800" b="1" dirty="0">
                <a:solidFill>
                  <a:srgbClr val="C3C3C3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endParaRPr>
            </a:p>
          </p:txBody>
        </p:sp>
        <p:sp>
          <p:nvSpPr>
            <p:cNvPr id="3" name="文本框 2"/>
            <p:cNvSpPr txBox="1"/>
            <p:nvPr>
              <p:custDataLst>
                <p:tags r:id="rId10"/>
              </p:custDataLst>
            </p:nvPr>
          </p:nvSpPr>
          <p:spPr>
            <a:xfrm>
              <a:off x="7501" y="3368"/>
              <a:ext cx="3408" cy="7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lvl="0" algn="l">
                <a:buClrTx/>
                <a:buSzTx/>
                <a:buFontTx/>
              </a:pPr>
              <a:r>
                <a:rPr lang="zh-CN" altLang="en-US" sz="26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能耗周期统计</a:t>
              </a:r>
              <a:endParaRPr lang="zh-CN" altLang="en-US" sz="2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</p:grpSp>
      <p:grpSp>
        <p:nvGrpSpPr>
          <p:cNvPr id="14" name="组合 13"/>
          <p:cNvGrpSpPr/>
          <p:nvPr>
            <p:custDataLst>
              <p:tags r:id="rId11"/>
            </p:custDataLst>
          </p:nvPr>
        </p:nvGrpSpPr>
        <p:grpSpPr>
          <a:xfrm>
            <a:off x="3745865" y="3087370"/>
            <a:ext cx="3181350" cy="521970"/>
            <a:chOff x="5899" y="6569"/>
            <a:chExt cx="5010" cy="822"/>
          </a:xfrm>
        </p:grpSpPr>
        <p:sp>
          <p:nvSpPr>
            <p:cNvPr id="4" name="文本框 3"/>
            <p:cNvSpPr txBox="1"/>
            <p:nvPr>
              <p:custDataLst>
                <p:tags r:id="rId12"/>
              </p:custDataLst>
            </p:nvPr>
          </p:nvSpPr>
          <p:spPr>
            <a:xfrm>
              <a:off x="5899" y="6569"/>
              <a:ext cx="988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lvl="0" algn="l">
                <a:buClrTx/>
                <a:buSzTx/>
                <a:buFontTx/>
              </a:pPr>
              <a:r>
                <a:rPr lang="en-US" altLang="zh-CN" sz="2800" b="1" dirty="0">
                  <a:solidFill>
                    <a:srgbClr val="C3C3C3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+mn-ea"/>
                </a:rPr>
                <a:t>04</a:t>
              </a:r>
              <a:endParaRPr lang="en-US" altLang="zh-CN" sz="2800" b="1" dirty="0">
                <a:solidFill>
                  <a:srgbClr val="C3C3C3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endParaRPr>
            </a:p>
          </p:txBody>
        </p:sp>
        <p:sp>
          <p:nvSpPr>
            <p:cNvPr id="5" name="文本框 4"/>
            <p:cNvSpPr txBox="1"/>
            <p:nvPr>
              <p:custDataLst>
                <p:tags r:id="rId13"/>
              </p:custDataLst>
            </p:nvPr>
          </p:nvSpPr>
          <p:spPr>
            <a:xfrm>
              <a:off x="7501" y="6593"/>
              <a:ext cx="3408" cy="7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lvl="0" algn="l">
                <a:buClrTx/>
                <a:buSzTx/>
                <a:buFontTx/>
              </a:pPr>
              <a:r>
                <a:rPr lang="zh-CN" altLang="en-US" sz="26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能耗班次统计</a:t>
              </a:r>
              <a:endParaRPr lang="zh-CN" altLang="en-US" sz="2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38493" y="109401"/>
            <a:ext cx="2132330" cy="4914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4.</a:t>
            </a: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仪表月报表</a:t>
            </a:r>
            <a:endParaRPr lang="zh-CN" altLang="en-US" sz="26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0" name="文本框 79"/>
          <p:cNvSpPr txBox="1"/>
          <p:nvPr/>
        </p:nvSpPr>
        <p:spPr>
          <a:xfrm>
            <a:off x="238929" y="802833"/>
            <a:ext cx="404368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功能描述：</a:t>
            </a:r>
            <a:r>
              <a:rPr lang="zh-CN" altLang="en-US" sz="160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选择某个</a:t>
            </a:r>
            <a:r>
              <a:rPr lang="zh-CN" altLang="en-US" sz="160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月份，统计仪表的用量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1940" y="1341755"/>
            <a:ext cx="4830731" cy="3801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1497627" y="4843263"/>
            <a:ext cx="6148747" cy="24622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pPr marL="0" marR="0" lvl="0" indent="0" algn="di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28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一切以客户为中心 </a:t>
            </a:r>
            <a:r>
              <a:rPr kumimoji="0" lang="en-US" altLang="zh-CN" sz="1000" b="0" i="0" u="none" strike="noStrike" kern="1200" cap="none" spc="28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| </a:t>
            </a:r>
            <a:r>
              <a:rPr kumimoji="0" lang="zh-CN" altLang="en-US" sz="1000" b="0" i="0" u="none" strike="noStrike" kern="1200" cap="none" spc="28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诚信 </a:t>
            </a:r>
            <a:r>
              <a:rPr kumimoji="0" lang="en-US" altLang="zh-CN" sz="1000" b="0" i="0" u="none" strike="noStrike" kern="1200" cap="none" spc="28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| </a:t>
            </a:r>
            <a:r>
              <a:rPr kumimoji="0" lang="zh-CN" altLang="en-US" sz="1000" b="0" i="0" u="none" strike="noStrike" kern="1200" cap="none" spc="28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创新 </a:t>
            </a:r>
            <a:r>
              <a:rPr kumimoji="0" lang="en-US" altLang="zh-CN" sz="1000" b="0" i="0" u="none" strike="noStrike" kern="1200" cap="none" spc="28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| </a:t>
            </a:r>
            <a:r>
              <a:rPr kumimoji="0" lang="zh-CN" altLang="en-US" sz="1000" b="0" i="0" u="none" strike="noStrike" kern="1200" cap="none" spc="28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高效 </a:t>
            </a:r>
            <a:r>
              <a:rPr kumimoji="0" lang="en-US" altLang="zh-CN" sz="1000" b="0" i="0" u="none" strike="noStrike" kern="1200" cap="none" spc="28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| </a:t>
            </a:r>
            <a:r>
              <a:rPr kumimoji="0" lang="zh-CN" altLang="en-US" sz="1000" b="0" i="0" u="none" strike="noStrike" kern="1200" cap="none" spc="28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奋斗</a:t>
            </a:r>
            <a:endParaRPr kumimoji="0" lang="zh-CN" altLang="en-US" sz="1000" b="0" i="0" u="none" strike="noStrike" kern="1200" cap="none" spc="284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32197" y="3188613"/>
            <a:ext cx="76796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汇报人：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XXX      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时间：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2023.03. 08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 cstate="print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19" name="图形 18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0446" y="4674871"/>
            <a:ext cx="4041734" cy="184705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53D9">
              <a:alpha val="61000"/>
            </a:srgbClr>
          </a:solidFill>
          <a:ln>
            <a:solidFill>
              <a:srgbClr val="1C53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7" name="图片 6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287" y="479221"/>
            <a:ext cx="1055019" cy="353264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600400" y="3103624"/>
            <a:ext cx="397383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数智工厂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-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设备模块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使用手册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600400" y="3592334"/>
            <a:ext cx="2138680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版本号：数智工厂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3.10.0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版本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600400" y="3894968"/>
            <a:ext cx="1948815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时   间：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2025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年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07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月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15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日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11637" y="2166263"/>
            <a:ext cx="407515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5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THE    END</a:t>
            </a:r>
            <a:endParaRPr lang="zh-CN" altLang="en-US" sz="5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70.2892125984252,&quot;left&quot;:294.93370078740156,&quot;top&quot;:95.28488188976378,&quot;width&quot;:324.62771653543314}"/>
</p:tagLst>
</file>

<file path=ppt/tags/tag2.xml><?xml version="1.0" encoding="utf-8"?>
<p:tagLst xmlns:p="http://schemas.openxmlformats.org/presentationml/2006/main">
  <p:tag name="KSO_WM_DIAGRAM_VIRTUALLY_FRAME" val="{&quot;height&quot;:270.2892125984252,&quot;left&quot;:294.93370078740156,&quot;top&quot;:95.28488188976378,&quot;width&quot;:324.62771653543314}"/>
</p:tagLst>
</file>

<file path=ppt/tags/tag3.xml><?xml version="1.0" encoding="utf-8"?>
<p:tagLst xmlns:p="http://schemas.openxmlformats.org/presentationml/2006/main">
  <p:tag name="KSO_WM_DIAGRAM_VIRTUALLY_FRAME" val="{&quot;height&quot;:270.2892125984252,&quot;left&quot;:294.93370078740156,&quot;top&quot;:95.28488188976378,&quot;width&quot;:324.62771653543314}"/>
</p:tagLst>
</file>

<file path=ppt/tags/tag4.xml><?xml version="1.0" encoding="utf-8"?>
<p:tagLst xmlns:p="http://schemas.openxmlformats.org/presentationml/2006/main">
  <p:tag name="KSO_WM_DIAGRAM_VIRTUALLY_FRAME" val="{&quot;height&quot;:270.2892125984252,&quot;left&quot;:294.93370078740156,&quot;top&quot;:95.28488188976378,&quot;width&quot;:324.62771653543314}"/>
</p:tagLst>
</file>

<file path=ppt/tags/tag5.xml><?xml version="1.0" encoding="utf-8"?>
<p:tagLst xmlns:p="http://schemas.openxmlformats.org/presentationml/2006/main">
  <p:tag name="KSO_WM_DIAGRAM_VIRTUALLY_FRAME" val="{&quot;height&quot;:270.2892125984252,&quot;left&quot;:294.93370078740156,&quot;top&quot;:95.28488188976378,&quot;width&quot;:324.62771653543314}"/>
</p:tagLst>
</file>

<file path=ppt/tags/tag6.xml><?xml version="1.0" encoding="utf-8"?>
<p:tagLst xmlns:p="http://schemas.openxmlformats.org/presentationml/2006/main">
  <p:tag name="KSO_WM_DIAGRAM_VIRTUALLY_FRAME" val="{&quot;height&quot;:270.2892125984252,&quot;left&quot;:294.93370078740156,&quot;top&quot;:95.28488188976378,&quot;width&quot;:324.62771653543314}"/>
</p:tagLst>
</file>

<file path=ppt/tags/tag7.xml><?xml version="1.0" encoding="utf-8"?>
<p:tagLst xmlns:p="http://schemas.openxmlformats.org/presentationml/2006/main">
  <p:tag name="KSO_WM_DIAGRAM_VIRTUALLY_FRAME" val="{&quot;height&quot;:270.2892125984252,&quot;left&quot;:294.93370078740156,&quot;top&quot;:95.28488188976378,&quot;width&quot;:324.62771653543314}"/>
</p:tagLst>
</file>

<file path=ppt/tags/tag8.xml><?xml version="1.0" encoding="utf-8"?>
<p:tagLst xmlns:p="http://schemas.openxmlformats.org/presentationml/2006/main">
  <p:tag name="KSO_WM_DIAGRAM_VIRTUALLY_FRAME" val="{&quot;height&quot;:270.2892125984252,&quot;left&quot;:294.93370078740156,&quot;top&quot;:95.28488188976378,&quot;width&quot;:324.62771653543314}"/>
</p:tagLst>
</file>

<file path=ppt/tags/tag9.xml><?xml version="1.0" encoding="utf-8"?>
<p:tagLst xmlns:p="http://schemas.openxmlformats.org/presentationml/2006/main">
  <p:tag name="KSO_WM_DIAGRAM_VIRTUALLY_FRAME" val="{&quot;height&quot;:274.2499999999999,&quot;left&quot;:282.71999999999997,&quot;top&quot;:95.28488188976378,&quot;width&quot;:437.28000000000003}"/>
</p:tagLst>
</file>

<file path=ppt/tags/tag10.xml><?xml version="1.0" encoding="utf-8"?>
<p:tagLst xmlns:p="http://schemas.openxmlformats.org/presentationml/2006/main">
  <p:tag name="KSO_WM_DIAGRAM_VIRTUALLY_FRAME" val="{&quot;height&quot;:274.2499999999999,&quot;left&quot;:282.71999999999997,&quot;top&quot;:95.28488188976378,&quot;width&quot;:437.28000000000003}"/>
</p:tagLst>
</file>

<file path=ppt/tags/tag11.xml><?xml version="1.0" encoding="utf-8"?>
<p:tagLst xmlns:p="http://schemas.openxmlformats.org/presentationml/2006/main">
  <p:tag name="KSO_WM_DIAGRAM_VIRTUALLY_FRAME" val="{&quot;height&quot;:274.2499999999999,&quot;left&quot;:282.71999999999997,&quot;top&quot;:95.28488188976378,&quot;width&quot;:437.28000000000003}"/>
</p:tagLst>
</file>

<file path=ppt/tags/tag12.xml><?xml version="1.0" encoding="utf-8"?>
<p:tagLst xmlns:p="http://schemas.openxmlformats.org/presentationml/2006/main">
  <p:tag name="KSO_WM_DIAGRAM_VIRTUALLY_FRAME" val="{&quot;height&quot;:274.2499999999999,&quot;left&quot;:282.71999999999997,&quot;top&quot;:95.28488188976378,&quot;width&quot;:437.28000000000003}"/>
</p:tagLst>
</file>

<file path=ppt/tags/tag13.xml><?xml version="1.0" encoding="utf-8"?>
<p:tagLst xmlns:p="http://schemas.openxmlformats.org/presentationml/2006/main">
  <p:tag name="KSO_WM_DIAGRAM_VIRTUALLY_FRAME" val="{&quot;height&quot;:274.2499999999999,&quot;left&quot;:282.71999999999997,&quot;top&quot;:95.28488188976378,&quot;width&quot;:437.28000000000003}"/>
</p:tagLst>
</file>

<file path=ppt/tags/tag14.xml><?xml version="1.0" encoding="utf-8"?>
<p:tagLst xmlns:p="http://schemas.openxmlformats.org/presentationml/2006/main">
  <p:tag name="KSO_WM_DIAGRAM_VIRTUALLY_FRAME" val="{&quot;height&quot;:274.2499999999999,&quot;left&quot;:282.71999999999997,&quot;top&quot;:95.28488188976378,&quot;width&quot;:437.28000000000003}"/>
</p:tagLst>
</file>

<file path=ppt/tags/tag15.xml><?xml version="1.0" encoding="utf-8"?>
<p:tagLst xmlns:p="http://schemas.openxmlformats.org/presentationml/2006/main">
  <p:tag name="KSO_WM_DIAGRAM_VIRTUALLY_FRAME" val="{&quot;height&quot;:274.2499999999999,&quot;left&quot;:282.71999999999997,&quot;top&quot;:95.28488188976378,&quot;width&quot;:437.28000000000003}"/>
</p:tagLst>
</file>

<file path=ppt/tags/tag16.xml><?xml version="1.0" encoding="utf-8"?>
<p:tagLst xmlns:p="http://schemas.openxmlformats.org/presentationml/2006/main">
  <p:tag name="KSO_WM_DIAGRAM_VIRTUALLY_FRAME" val="{&quot;height&quot;:274.2499999999999,&quot;left&quot;:282.71999999999997,&quot;top&quot;:95.28488188976378,&quot;width&quot;:437.28000000000003}"/>
</p:tagLst>
</file>

<file path=ppt/tags/tag17.xml><?xml version="1.0" encoding="utf-8"?>
<p:tagLst xmlns:p="http://schemas.openxmlformats.org/presentationml/2006/main">
  <p:tag name="KSO_WM_DIAGRAM_VIRTUALLY_FRAME" val="{&quot;height&quot;:274.2499999999999,&quot;left&quot;:282.71999999999997,&quot;top&quot;:95.28488188976378,&quot;width&quot;:437.28000000000003}"/>
</p:tagLst>
</file>

<file path=ppt/tags/tag18.xml><?xml version="1.0" encoding="utf-8"?>
<p:tagLst xmlns:p="http://schemas.openxmlformats.org/presentationml/2006/main">
  <p:tag name="KSO_WM_DIAGRAM_VIRTUALLY_FRAME" val="{&quot;height&quot;:274.2651181102362,&quot;left&quot;:282.7,&quot;top&quot;:95.28488188976378,&quot;width&quot;:444.74965927281045}"/>
</p:tagLst>
</file>

<file path=ppt/tags/tag19.xml><?xml version="1.0" encoding="utf-8"?>
<p:tagLst xmlns:p="http://schemas.openxmlformats.org/presentationml/2006/main">
  <p:tag name="KSO_WM_DIAGRAM_VIRTUALLY_FRAME" val="{&quot;height&quot;:274.2651181102362,&quot;left&quot;:282.7,&quot;top&quot;:95.28488188976378,&quot;width&quot;:444.74965927281045}"/>
</p:tagLst>
</file>

<file path=ppt/tags/tag20.xml><?xml version="1.0" encoding="utf-8"?>
<p:tagLst xmlns:p="http://schemas.openxmlformats.org/presentationml/2006/main">
  <p:tag name="KSO_WM_DIAGRAM_VIRTUALLY_FRAME" val="{&quot;height&quot;:274.2651181102362,&quot;left&quot;:282.7,&quot;top&quot;:95.28488188976378,&quot;width&quot;:444.74965927281045}"/>
</p:tagLst>
</file>

<file path=ppt/tags/tag21.xml><?xml version="1.0" encoding="utf-8"?>
<p:tagLst xmlns:p="http://schemas.openxmlformats.org/presentationml/2006/main">
  <p:tag name="KSO_WM_DIAGRAM_VIRTUALLY_FRAME" val="{&quot;height&quot;:274.2651181102362,&quot;left&quot;:282.7,&quot;top&quot;:95.28488188976378,&quot;width&quot;:444.74965927281045}"/>
</p:tagLst>
</file>

<file path=ppt/tags/tag22.xml><?xml version="1.0" encoding="utf-8"?>
<p:tagLst xmlns:p="http://schemas.openxmlformats.org/presentationml/2006/main">
  <p:tag name="KSO_WM_DIAGRAM_VIRTUALLY_FRAME" val="{&quot;height&quot;:274.2651181102362,&quot;left&quot;:282.7,&quot;top&quot;:95.28488188976378,&quot;width&quot;:444.74965927281045}"/>
</p:tagLst>
</file>

<file path=ppt/tags/tag23.xml><?xml version="1.0" encoding="utf-8"?>
<p:tagLst xmlns:p="http://schemas.openxmlformats.org/presentationml/2006/main">
  <p:tag name="KSO_WM_DIAGRAM_VIRTUALLY_FRAME" val="{&quot;height&quot;:274.2651181102362,&quot;left&quot;:282.7,&quot;top&quot;:95.28488188976378,&quot;width&quot;:444.74965927281045}"/>
</p:tagLst>
</file>

<file path=ppt/tags/tag24.xml><?xml version="1.0" encoding="utf-8"?>
<p:tagLst xmlns:p="http://schemas.openxmlformats.org/presentationml/2006/main">
  <p:tag name="KSO_WM_DIAGRAM_VIRTUALLY_FRAME" val="{&quot;height&quot;:274.2651181102362,&quot;left&quot;:282.7,&quot;top&quot;:95.28488188976378,&quot;width&quot;:444.74965927281045}"/>
</p:tagLst>
</file>

<file path=ppt/tags/tag25.xml><?xml version="1.0" encoding="utf-8"?>
<p:tagLst xmlns:p="http://schemas.openxmlformats.org/presentationml/2006/main">
  <p:tag name="KSO_WM_DIAGRAM_VIRTUALLY_FRAME" val="{&quot;height&quot;:274.2651181102362,&quot;left&quot;:282.7,&quot;top&quot;:95.28488188976378,&quot;width&quot;:444.74965927281045}"/>
</p:tagLst>
</file>

<file path=ppt/tags/tag26.xml><?xml version="1.0" encoding="utf-8"?>
<p:tagLst xmlns:p="http://schemas.openxmlformats.org/presentationml/2006/main">
  <p:tag name="KSO_WM_DIAGRAM_VIRTUALLY_FRAME" val="{&quot;height&quot;:274.2651181102362,&quot;left&quot;:282.7,&quot;top&quot;:95.28488188976378,&quot;width&quot;:444.74965927281045}"/>
</p:tagLst>
</file>

<file path=ppt/tags/tag27.xml><?xml version="1.0" encoding="utf-8"?>
<p:tagLst xmlns:p="http://schemas.openxmlformats.org/presentationml/2006/main">
  <p:tag name="KSO_WM_DIAGRAM_VIRTUALLY_FRAME" val="{&quot;height&quot;:274.2651181102362,&quot;left&quot;:282.7,&quot;top&quot;:95.28488188976378,&quot;width&quot;:444.74965927281045}"/>
</p:tagLst>
</file>

<file path=ppt/tags/tag28.xml><?xml version="1.0" encoding="utf-8"?>
<p:tagLst xmlns:p="http://schemas.openxmlformats.org/presentationml/2006/main">
  <p:tag name="KSO_WM_DIAGRAM_VIRTUALLY_FRAME" val="{&quot;height&quot;:274.2651181102362,&quot;left&quot;:282.7,&quot;top&quot;:95.28488188976378,&quot;width&quot;:444.74965927281045}"/>
</p:tagLst>
</file>

<file path=ppt/tags/tag29.xml><?xml version="1.0" encoding="utf-8"?>
<p:tagLst xmlns:p="http://schemas.openxmlformats.org/presentationml/2006/main">
  <p:tag name="KSO_WM_DIAGRAM_VIRTUALLY_FRAME" val="{&quot;height&quot;:274.2651181102362,&quot;left&quot;:282.7,&quot;top&quot;:95.28488188976378,&quot;width&quot;:444.74965927281045}"/>
</p:tagLst>
</file>

<file path=ppt/tags/tag30.xml><?xml version="1.0" encoding="utf-8"?>
<p:tagLst xmlns:p="http://schemas.openxmlformats.org/presentationml/2006/main">
  <p:tag name="KSO_WM_DIAGRAM_VIRTUALLY_FRAME" val="{&quot;height&quot;:274.2651181102362,&quot;left&quot;:282.7,&quot;top&quot;:95.28488188976378,&quot;width&quot;:444.74965927281045}"/>
</p:tagLst>
</file>

<file path=ppt/tags/tag31.xml><?xml version="1.0" encoding="utf-8"?>
<p:tagLst xmlns:p="http://schemas.openxmlformats.org/presentationml/2006/main">
  <p:tag name="KSO_WM_DIAGRAM_VIRTUALLY_FRAME" val="{&quot;height&quot;:277.8651181102362,&quot;left&quot;:282.7,&quot;top&quot;:95.28488188976378,&quot;width&quot;:437.3}"/>
</p:tagLst>
</file>

<file path=ppt/tags/tag32.xml><?xml version="1.0" encoding="utf-8"?>
<p:tagLst xmlns:p="http://schemas.openxmlformats.org/presentationml/2006/main">
  <p:tag name="KSO_WM_DIAGRAM_VIRTUALLY_FRAME" val="{&quot;height&quot;:274.2651181102362,&quot;left&quot;:282.7,&quot;top&quot;:95.28488188976378,&quot;width&quot;:437.3}"/>
</p:tagLst>
</file>

<file path=ppt/tags/tag33.xml><?xml version="1.0" encoding="utf-8"?>
<p:tagLst xmlns:p="http://schemas.openxmlformats.org/presentationml/2006/main">
  <p:tag name="KSO_WM_DIAGRAM_VIRTUALLY_FRAME" val="{&quot;height&quot;:277.8651181102362,&quot;left&quot;:282.7,&quot;top&quot;:95.28488188976378,&quot;width&quot;:437.3}"/>
</p:tagLst>
</file>

<file path=ppt/tags/tag34.xml><?xml version="1.0" encoding="utf-8"?>
<p:tagLst xmlns:p="http://schemas.openxmlformats.org/presentationml/2006/main">
  <p:tag name="KSO_WM_DIAGRAM_VIRTUALLY_FRAME" val="{&quot;height&quot;:277.8651181102362,&quot;left&quot;:282.7,&quot;top&quot;:95.28488188976378,&quot;width&quot;:437.3}"/>
</p:tagLst>
</file>

<file path=ppt/tags/tag35.xml><?xml version="1.0" encoding="utf-8"?>
<p:tagLst xmlns:p="http://schemas.openxmlformats.org/presentationml/2006/main">
  <p:tag name="KSO_WM_DIAGRAM_VIRTUALLY_FRAME" val="{&quot;height&quot;:277.8651181102362,&quot;left&quot;:282.7,&quot;top&quot;:95.28488188976378,&quot;width&quot;:437.3}"/>
</p:tagLst>
</file>

<file path=ppt/tags/tag36.xml><?xml version="1.0" encoding="utf-8"?>
<p:tagLst xmlns:p="http://schemas.openxmlformats.org/presentationml/2006/main">
  <p:tag name="KSO_WM_DIAGRAM_VIRTUALLY_FRAME" val="{&quot;height&quot;:277.8651181102362,&quot;left&quot;:282.7,&quot;top&quot;:95.28488188976378,&quot;width&quot;:437.3}"/>
</p:tagLst>
</file>

<file path=ppt/tags/tag37.xml><?xml version="1.0" encoding="utf-8"?>
<p:tagLst xmlns:p="http://schemas.openxmlformats.org/presentationml/2006/main">
  <p:tag name="KSO_WM_DIAGRAM_VIRTUALLY_FRAME" val="{&quot;height&quot;:277.8651181102362,&quot;left&quot;:282.7,&quot;top&quot;:95.28488188976378,&quot;width&quot;:437.3}"/>
</p:tagLst>
</file>

<file path=ppt/tags/tag38.xml><?xml version="1.0" encoding="utf-8"?>
<p:tagLst xmlns:p="http://schemas.openxmlformats.org/presentationml/2006/main">
  <p:tag name="KSO_WM_DIAGRAM_VIRTUALLY_FRAME" val="{&quot;height&quot;:277.8651181102362,&quot;left&quot;:282.7,&quot;top&quot;:95.28488188976378,&quot;width&quot;:437.3}"/>
</p:tagLst>
</file>

<file path=ppt/tags/tag39.xml><?xml version="1.0" encoding="utf-8"?>
<p:tagLst xmlns:p="http://schemas.openxmlformats.org/presentationml/2006/main">
  <p:tag name="KSO_WM_DIAGRAM_VIRTUALLY_FRAME" val="{&quot;height&quot;:277.8651181102362,&quot;left&quot;:282.7,&quot;top&quot;:95.28488188976378,&quot;width&quot;:437.3}"/>
</p:tagLst>
</file>

<file path=ppt/tags/tag40.xml><?xml version="1.0" encoding="utf-8"?>
<p:tagLst xmlns:p="http://schemas.openxmlformats.org/presentationml/2006/main">
  <p:tag name="KSO_WM_DIAGRAM_VIRTUALLY_FRAME" val="{&quot;height&quot;:277.8651181102362,&quot;left&quot;:282.7,&quot;top&quot;:95.28488188976378,&quot;width&quot;:437.3}"/>
</p:tagLst>
</file>

<file path=ppt/tags/tag41.xml><?xml version="1.0" encoding="utf-8"?>
<p:tagLst xmlns:p="http://schemas.openxmlformats.org/presentationml/2006/main">
  <p:tag name="KSO_WM_DIAGRAM_VIRTUALLY_FRAME" val="{&quot;height&quot;:277.8651181102362,&quot;left&quot;:282.7,&quot;top&quot;:95.28488188976378,&quot;width&quot;:437.3}"/>
</p:tagLst>
</file>

<file path=ppt/tags/tag42.xml><?xml version="1.0" encoding="utf-8"?>
<p:tagLst xmlns:p="http://schemas.openxmlformats.org/presentationml/2006/main">
  <p:tag name="KSO_WM_DIAGRAM_VIRTUALLY_FRAME" val="{&quot;height&quot;:277.8651181102362,&quot;left&quot;:282.7,&quot;top&quot;:95.28488188976378,&quot;width&quot;:437.3}"/>
</p:tagLst>
</file>

<file path=ppt/tags/tag43.xml><?xml version="1.0" encoding="utf-8"?>
<p:tagLst xmlns:p="http://schemas.openxmlformats.org/presentationml/2006/main">
  <p:tag name="KSO_WM_DIAGRAM_VIRTUALLY_FRAME" val="{&quot;height&quot;:277.8651181102362,&quot;left&quot;:282.7,&quot;top&quot;:95.28488188976378,&quot;width&quot;:437.3}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sz="3600" b="1" dirty="0" smtClean="0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494</Words>
  <Application>WPS 演示</Application>
  <PresentationFormat>全屏显示(16:9)</PresentationFormat>
  <Paragraphs>118</Paragraphs>
  <Slides>10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1" baseType="lpstr">
      <vt:lpstr>Arial</vt:lpstr>
      <vt:lpstr>宋体</vt:lpstr>
      <vt:lpstr>Wingdings</vt:lpstr>
      <vt:lpstr>微软雅黑</vt:lpstr>
      <vt:lpstr>Calibri</vt:lpstr>
      <vt:lpstr>等线</vt:lpstr>
      <vt:lpstr>Arial Unicode MS</vt:lpstr>
      <vt:lpstr>等线 Light</vt:lpstr>
      <vt:lpstr>Calibri Light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J881</dc:creator>
  <cp:lastModifiedBy>儒毅</cp:lastModifiedBy>
  <cp:revision>58</cp:revision>
  <dcterms:created xsi:type="dcterms:W3CDTF">2025-02-10T02:33:00Z</dcterms:created>
  <dcterms:modified xsi:type="dcterms:W3CDTF">2025-07-19T08:43:29Z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AEFD41B848154CD4B109ACF84D614C21_12</vt:lpwstr>
  </property>
  <property fmtid="{D5CDD505-2E9C-101B-9397-08002B2CF9AE}" pid="3" name="KSOProductBuildVer">
    <vt:lpwstr>2052-12.1.0.21915</vt:lpwstr>
  </property>
</Properties>
</file>