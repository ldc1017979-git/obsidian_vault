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62" r:id="rId5"/>
    <p:sldId id="295" r:id="rId6"/>
    <p:sldId id="306" r:id="rId7"/>
    <p:sldId id="291" r:id="rId8"/>
    <p:sldId id="316" r:id="rId9"/>
    <p:sldId id="313" r:id="rId10"/>
    <p:sldId id="324" r:id="rId11"/>
    <p:sldId id="327" r:id="rId12"/>
    <p:sldId id="325" r:id="rId13"/>
    <p:sldId id="305" r:id="rId14"/>
  </p:sldIdLst>
  <p:sldSz cx="9144000" cy="5143500" type="screen16x9"/>
  <p:notesSz cx="6858000" cy="9144000"/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429"/>
    <a:srgbClr val="376FFF"/>
    <a:srgbClr val="17D594"/>
    <a:srgbClr val="1C53D9"/>
    <a:srgbClr val="FFC000"/>
    <a:srgbClr val="F7A3A3"/>
    <a:srgbClr val="FDE7E7"/>
    <a:srgbClr val="D95D61"/>
    <a:srgbClr val="DB696D"/>
    <a:srgbClr val="D44D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8" d="100"/>
          <a:sy n="198" d="100"/>
        </p:scale>
        <p:origin x="154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4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F60A8-5704-417B-9342-B9521C301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5FEE847-FC93-470B-B269-6988605DEEB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2382" y="173076"/>
            <a:ext cx="775853" cy="2596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12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dist"/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一切以客户为中心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诚信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奋斗</a:t>
            </a:r>
            <a:endParaRPr lang="zh-CN" altLang="en-US" sz="1000" spc="284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52775" y="1733014"/>
            <a:ext cx="6667500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人事行政</a:t>
            </a:r>
            <a:r>
              <a:rPr lang="en-US" altLang="zh-CN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合理化建议</a:t>
            </a:r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使用手册</a:t>
            </a:r>
            <a:endParaRPr lang="zh-CN" altLang="en-US" sz="3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2740650"/>
            <a:ext cx="21386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版本号：数智工厂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3.11.0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084279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   间：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90544" y="1100328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745658" y="2233939"/>
            <a:ext cx="627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763093" y="2264716"/>
            <a:ext cx="28244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培训记录操作说明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745658" y="1210118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01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4763093" y="1225507"/>
            <a:ext cx="325310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功能介绍及业务流程 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65696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功能介绍及流程说明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: 圆角 131"/>
          <p:cNvSpPr/>
          <p:nvPr/>
        </p:nvSpPr>
        <p:spPr>
          <a:xfrm>
            <a:off x="934085" y="892810"/>
            <a:ext cx="7294245" cy="3859530"/>
          </a:xfrm>
          <a:prstGeom prst="roundRect">
            <a:avLst>
              <a:gd name="adj" fmla="val 14025"/>
            </a:avLst>
          </a:prstGeom>
          <a:solidFill>
            <a:srgbClr val="1C53D9"/>
          </a:solidFill>
          <a:ln w="6350" cap="flat">
            <a:noFill/>
            <a:prstDash val="solid"/>
            <a:miter/>
          </a:ln>
          <a:effectLst>
            <a:outerShdw blurRad="532726" dist="199107" dir="5400000" algn="t" rotWithShape="0">
              <a:schemeClr val="accent1">
                <a:alpha val="16774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1450778" y="1043557"/>
            <a:ext cx="3336925" cy="307340"/>
            <a:chOff x="917011" y="1529802"/>
            <a:chExt cx="3336925" cy="307340"/>
          </a:xfrm>
        </p:grpSpPr>
        <p:sp>
          <p:nvSpPr>
            <p:cNvPr id="62" name="椭圆 61"/>
            <p:cNvSpPr/>
            <p:nvPr/>
          </p:nvSpPr>
          <p:spPr>
            <a:xfrm>
              <a:off x="917011" y="1580860"/>
              <a:ext cx="158750" cy="15875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202761" y="1529802"/>
              <a:ext cx="3051175" cy="3073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合理化建议功能说明</a:t>
              </a:r>
              <a:endParaRPr kumimoji="0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</p:grpSp>
      <p:sp>
        <p:nvSpPr>
          <p:cNvPr id="64" name="文本框 63"/>
          <p:cNvSpPr txBox="1"/>
          <p:nvPr/>
        </p:nvSpPr>
        <p:spPr>
          <a:xfrm>
            <a:off x="1358900" y="1372235"/>
            <a:ext cx="6585585" cy="32905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员工可在小程序提交合理化建议，行政人员也能在</a:t>
            </a:r>
            <a:r>
              <a:rPr kumimoji="0" lang="en-US" altLang="zh-CN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PC </a:t>
            </a: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进行提交。提交后，建议会流转至部门负责人处进行审核，以确定是否予以采纳。若建议被采纳，将安排建议执行人进行处理，执行人需填写执行措施、效果以及执行附件。之后，由审核人再次对建议处理情况进行验收，从而完成整个合理化建议的处理流程。后续，合理化建议会自动同步至个人档案，便于进行追溯。</a:t>
            </a:r>
            <a:endParaRPr kumimoji="0" lang="zh-CN" altLang="en-US" sz="16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线上化的操作模式，简化了建议提交、审核、执行与验收的流程。这不仅确保了建议处理过程可追溯、各环节情况清晰明了，还借助线上数据采集，为分析建议质量、评估建议实施效果提供数字化信息，助力优化建议管理形式，提升建议处理的便捷性与反馈效率。。</a:t>
            </a:r>
            <a:endParaRPr kumimoji="0" lang="zh-CN" altLang="en-US" sz="16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32676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培训记录业务流程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流程图: 可选过程 2"/>
          <p:cNvSpPr/>
          <p:nvPr/>
        </p:nvSpPr>
        <p:spPr>
          <a:xfrm>
            <a:off x="124460" y="1574800"/>
            <a:ext cx="1506855" cy="414020"/>
          </a:xfrm>
          <a:prstGeom prst="flowChartAlternateProcess">
            <a:avLst/>
          </a:prstGeom>
          <a:solidFill>
            <a:srgbClr val="376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新增合理化建议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流程图: 过程 3"/>
          <p:cNvSpPr/>
          <p:nvPr/>
        </p:nvSpPr>
        <p:spPr>
          <a:xfrm>
            <a:off x="2559685" y="1572260"/>
            <a:ext cx="824865" cy="414020"/>
          </a:xfrm>
          <a:prstGeom prst="flowChartProcess">
            <a:avLst/>
          </a:prstGeom>
          <a:solidFill>
            <a:srgbClr val="FF742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建议审核</a:t>
            </a:r>
            <a:endParaRPr lang="zh-CN" altLang="en-US" sz="1200"/>
          </a:p>
        </p:txBody>
      </p:sp>
      <p:sp>
        <p:nvSpPr>
          <p:cNvPr id="6" name="流程图: 过程 5"/>
          <p:cNvSpPr/>
          <p:nvPr/>
        </p:nvSpPr>
        <p:spPr>
          <a:xfrm>
            <a:off x="4699635" y="1572260"/>
            <a:ext cx="824865" cy="414020"/>
          </a:xfrm>
          <a:prstGeom prst="flowChartProcess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建议执行</a:t>
            </a:r>
            <a:endParaRPr lang="zh-CN" altLang="en-US" sz="1200"/>
          </a:p>
        </p:txBody>
      </p:sp>
      <p:sp>
        <p:nvSpPr>
          <p:cNvPr id="7" name="流程图: 可选过程 6"/>
          <p:cNvSpPr/>
          <p:nvPr/>
        </p:nvSpPr>
        <p:spPr>
          <a:xfrm>
            <a:off x="7664450" y="1587500"/>
            <a:ext cx="1202690" cy="414020"/>
          </a:xfrm>
          <a:prstGeom prst="flowChartAlternateProcess">
            <a:avLst/>
          </a:prstGeom>
          <a:solidFill>
            <a:srgbClr val="17D59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完成建议采纳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肘形连接符 7"/>
          <p:cNvCxnSpPr>
            <a:stCxn id="3" idx="3"/>
            <a:endCxn id="4" idx="1"/>
          </p:cNvCxnSpPr>
          <p:nvPr/>
        </p:nvCxnSpPr>
        <p:spPr>
          <a:xfrm flipV="1">
            <a:off x="1631315" y="1779270"/>
            <a:ext cx="928370" cy="2540"/>
          </a:xfrm>
          <a:prstGeom prst="bentConnector3">
            <a:avLst>
              <a:gd name="adj1" fmla="val 50000"/>
            </a:avLst>
          </a:prstGeom>
          <a:solidFill>
            <a:srgbClr val="1C53D9"/>
          </a:solidFill>
          <a:ln w="12700" cmpd="sng">
            <a:solidFill>
              <a:srgbClr val="376F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4" idx="3"/>
            <a:endCxn id="6" idx="1"/>
          </p:cNvCxnSpPr>
          <p:nvPr/>
        </p:nvCxnSpPr>
        <p:spPr>
          <a:xfrm>
            <a:off x="3384550" y="1779270"/>
            <a:ext cx="1315085" cy="0"/>
          </a:xfrm>
          <a:prstGeom prst="straightConnector1">
            <a:avLst/>
          </a:prstGeom>
          <a:solidFill>
            <a:srgbClr val="1C53D9"/>
          </a:solidFill>
          <a:ln w="12700" cmpd="sng">
            <a:solidFill>
              <a:srgbClr val="376F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肘形连接符 10"/>
          <p:cNvCxnSpPr>
            <a:stCxn id="4" idx="2"/>
            <a:endCxn id="2" idx="1"/>
          </p:cNvCxnSpPr>
          <p:nvPr/>
        </p:nvCxnSpPr>
        <p:spPr>
          <a:xfrm rot="5400000" flipV="1">
            <a:off x="3433445" y="1524635"/>
            <a:ext cx="877570" cy="1800225"/>
          </a:xfrm>
          <a:prstGeom prst="bentConnector2">
            <a:avLst/>
          </a:prstGeom>
          <a:solidFill>
            <a:srgbClr val="1C53D9"/>
          </a:solidFill>
          <a:ln w="12700" cmpd="sng">
            <a:solidFill>
              <a:srgbClr val="376F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6" idx="3"/>
            <a:endCxn id="7" idx="1"/>
          </p:cNvCxnSpPr>
          <p:nvPr/>
        </p:nvCxnSpPr>
        <p:spPr>
          <a:xfrm>
            <a:off x="5524500" y="1779270"/>
            <a:ext cx="2139950" cy="15240"/>
          </a:xfrm>
          <a:prstGeom prst="straightConnector1">
            <a:avLst/>
          </a:prstGeom>
          <a:solidFill>
            <a:srgbClr val="1C53D9"/>
          </a:solidFill>
          <a:ln w="12700" cmpd="sng">
            <a:solidFill>
              <a:srgbClr val="376F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769360" y="1688465"/>
            <a:ext cx="491490" cy="2235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ctr"/>
            <a:r>
              <a:rPr lang="zh-CN" altLang="en-US" sz="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给予采纳</a:t>
            </a:r>
            <a:endParaRPr lang="zh-CN" altLang="en-US" sz="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流程图: 过程 15"/>
          <p:cNvSpPr/>
          <p:nvPr/>
        </p:nvSpPr>
        <p:spPr>
          <a:xfrm>
            <a:off x="6189980" y="1572260"/>
            <a:ext cx="824865" cy="414020"/>
          </a:xfrm>
          <a:prstGeom prst="flowChartProcess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验收建议</a:t>
            </a:r>
            <a:endParaRPr lang="zh-CN" altLang="en-US" sz="1200"/>
          </a:p>
        </p:txBody>
      </p:sp>
      <p:sp>
        <p:nvSpPr>
          <p:cNvPr id="2" name="流程图: 过程 1"/>
          <p:cNvSpPr/>
          <p:nvPr/>
        </p:nvSpPr>
        <p:spPr>
          <a:xfrm>
            <a:off x="4772660" y="2656840"/>
            <a:ext cx="824865" cy="414020"/>
          </a:xfrm>
          <a:prstGeom prst="flowChartProces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建议结束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451860" y="2758440"/>
            <a:ext cx="627380" cy="2108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ctr"/>
            <a:r>
              <a:rPr lang="zh-CN" altLang="en-US" sz="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不给予采纳</a:t>
            </a:r>
            <a:endParaRPr lang="zh-CN" altLang="en-US" sz="8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流程图: 可选过程 19"/>
          <p:cNvSpPr/>
          <p:nvPr/>
        </p:nvSpPr>
        <p:spPr>
          <a:xfrm>
            <a:off x="84455" y="2247900"/>
            <a:ext cx="1546860" cy="414020"/>
          </a:xfrm>
          <a:prstGeom prst="flowChartAlternateProcess">
            <a:avLst/>
          </a:prstGeom>
          <a:solidFill>
            <a:srgbClr val="376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小程序端员工提报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肘形连接符 20"/>
          <p:cNvCxnSpPr>
            <a:stCxn id="20" idx="3"/>
            <a:endCxn id="4" idx="1"/>
          </p:cNvCxnSpPr>
          <p:nvPr/>
        </p:nvCxnSpPr>
        <p:spPr>
          <a:xfrm flipV="1">
            <a:off x="1631315" y="1779270"/>
            <a:ext cx="928370" cy="675640"/>
          </a:xfrm>
          <a:prstGeom prst="bentConnector3">
            <a:avLst>
              <a:gd name="adj1" fmla="val 50000"/>
            </a:avLst>
          </a:prstGeom>
          <a:solidFill>
            <a:srgbClr val="1C53D9"/>
          </a:solidFill>
          <a:ln w="12700" cmpd="sng">
            <a:solidFill>
              <a:srgbClr val="376F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188595" y="2661920"/>
            <a:ext cx="1276350" cy="2108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ctr"/>
            <a:r>
              <a:rPr lang="zh-CN" altLang="en-US" sz="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下个版本（</a:t>
            </a:r>
            <a:r>
              <a:rPr lang="en-US" altLang="zh-CN" sz="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日上线）</a:t>
            </a:r>
            <a:endParaRPr lang="zh-CN" altLang="en-US" sz="8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90544" y="2138553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745658" y="2233939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02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763093" y="2264716"/>
            <a:ext cx="28244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培训记录操作说明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745658" y="1210118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01</a:t>
            </a:r>
            <a:endParaRPr lang="en-US" altLang="zh-CN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4763093" y="1225507"/>
            <a:ext cx="31546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功能说明及业务流程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38493" y="109401"/>
            <a:ext cx="299656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新增合理化建议</a:t>
            </a:r>
            <a:endParaRPr lang="zh-CN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"/>
          <p:cNvSpPr txBox="1"/>
          <p:nvPr>
            <p:custDataLst>
              <p:tags r:id="rId1"/>
            </p:custDataLst>
          </p:nvPr>
        </p:nvSpPr>
        <p:spPr>
          <a:xfrm>
            <a:off x="325755" y="4420235"/>
            <a:ext cx="10402888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页面路径：</a:t>
            </a:r>
            <a:r>
              <a:rPr lang="zh-CN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行政人事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行政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管理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基地事项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合理化建议</a:t>
            </a:r>
            <a:endParaRPr lang="en-US" altLang="zh-CN" sz="1400">
              <a:solidFill>
                <a:srgbClr val="1C53D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72745" y="784225"/>
            <a:ext cx="4404360" cy="1944370"/>
            <a:chOff x="923" y="1587"/>
            <a:chExt cx="6936" cy="3062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3" y="1587"/>
              <a:ext cx="6918" cy="3010"/>
            </a:xfrm>
            <a:prstGeom prst="rect">
              <a:avLst/>
            </a:prstGeom>
          </p:spPr>
        </p:pic>
        <p:sp>
          <p:nvSpPr>
            <p:cNvPr id="13" name="圆角矩形 12"/>
            <p:cNvSpPr/>
            <p:nvPr/>
          </p:nvSpPr>
          <p:spPr>
            <a:xfrm>
              <a:off x="923" y="1587"/>
              <a:ext cx="6937" cy="3063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493135" y="2132965"/>
            <a:ext cx="5030470" cy="2089150"/>
            <a:chOff x="9111" y="3165"/>
            <a:chExt cx="7922" cy="329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1" y="3199"/>
              <a:ext cx="7921" cy="3257"/>
            </a:xfrm>
            <a:prstGeom prst="rect">
              <a:avLst/>
            </a:prstGeom>
          </p:spPr>
        </p:pic>
        <p:sp>
          <p:nvSpPr>
            <p:cNvPr id="18" name="圆角矩形 17"/>
            <p:cNvSpPr/>
            <p:nvPr/>
          </p:nvSpPr>
          <p:spPr>
            <a:xfrm>
              <a:off x="9111" y="3165"/>
              <a:ext cx="7922" cy="3291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6772910" cy="891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合理化建议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待审核状态下点击审核可选择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采纳建议或不给予采纳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92" name="文本框 1"/>
          <p:cNvSpPr txBox="1"/>
          <p:nvPr>
            <p:custDataLst>
              <p:tags r:id="rId1"/>
            </p:custDataLst>
          </p:nvPr>
        </p:nvSpPr>
        <p:spPr>
          <a:xfrm>
            <a:off x="325755" y="4511675"/>
            <a:ext cx="829564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页面路径：</a:t>
            </a:r>
            <a:r>
              <a:rPr lang="zh-CN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行政人事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行政管理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基地事项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合理化建议审核</a:t>
            </a:r>
            <a:endParaRPr lang="zh-CN" altLang="en-US" sz="1400">
              <a:solidFill>
                <a:srgbClr val="1C53D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80035" y="1152525"/>
            <a:ext cx="8284210" cy="1755140"/>
            <a:chOff x="601" y="2395"/>
            <a:chExt cx="13046" cy="2764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1" y="2395"/>
              <a:ext cx="13047" cy="2690"/>
            </a:xfrm>
            <a:prstGeom prst="rect">
              <a:avLst/>
            </a:prstGeom>
          </p:spPr>
        </p:pic>
        <p:sp>
          <p:nvSpPr>
            <p:cNvPr id="4" name="圆角矩形 3"/>
            <p:cNvSpPr/>
            <p:nvPr/>
          </p:nvSpPr>
          <p:spPr>
            <a:xfrm>
              <a:off x="624" y="2395"/>
              <a:ext cx="12930" cy="2765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29895" y="2326005"/>
            <a:ext cx="4871720" cy="1920240"/>
            <a:chOff x="16894" y="2090"/>
            <a:chExt cx="7672" cy="3024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894" y="2090"/>
              <a:ext cx="7671" cy="2946"/>
            </a:xfrm>
            <a:prstGeom prst="rect">
              <a:avLst/>
            </a:prstGeom>
          </p:spPr>
        </p:pic>
        <p:sp>
          <p:nvSpPr>
            <p:cNvPr id="15" name="圆角矩形 14"/>
            <p:cNvSpPr/>
            <p:nvPr/>
          </p:nvSpPr>
          <p:spPr>
            <a:xfrm>
              <a:off x="16894" y="2090"/>
              <a:ext cx="7672" cy="3024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983990" y="2860675"/>
            <a:ext cx="4871720" cy="1591945"/>
            <a:chOff x="16894" y="2073"/>
            <a:chExt cx="7672" cy="2507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30" y="2073"/>
              <a:ext cx="7636" cy="2507"/>
            </a:xfrm>
            <a:prstGeom prst="rect">
              <a:avLst/>
            </a:prstGeom>
          </p:spPr>
        </p:pic>
        <p:sp>
          <p:nvSpPr>
            <p:cNvPr id="11" name="圆角矩形 10"/>
            <p:cNvSpPr/>
            <p:nvPr/>
          </p:nvSpPr>
          <p:spPr>
            <a:xfrm>
              <a:off x="16894" y="2090"/>
              <a:ext cx="7672" cy="2491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743331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2.3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合理化建议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待审核、待执行建议整改消息提醒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92" name="文本框 1"/>
          <p:cNvSpPr txBox="1"/>
          <p:nvPr>
            <p:custDataLst>
              <p:tags r:id="rId1"/>
            </p:custDataLst>
          </p:nvPr>
        </p:nvSpPr>
        <p:spPr>
          <a:xfrm>
            <a:off x="325755" y="4283075"/>
            <a:ext cx="829564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页面路径：</a:t>
            </a:r>
            <a:r>
              <a:rPr lang="zh-CN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行政人事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行政管理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基地事项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合理化建议执行整改消息提醒</a:t>
            </a:r>
            <a:endParaRPr lang="zh-CN" altLang="en-US" sz="1400">
              <a:solidFill>
                <a:srgbClr val="1C53D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85115" y="982980"/>
            <a:ext cx="8588375" cy="2769235"/>
            <a:chOff x="2876" y="-4849"/>
            <a:chExt cx="9993" cy="3222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3" y="-4811"/>
              <a:ext cx="9946" cy="3184"/>
            </a:xfrm>
            <a:prstGeom prst="rect">
              <a:avLst/>
            </a:prstGeom>
          </p:spPr>
        </p:pic>
        <p:sp>
          <p:nvSpPr>
            <p:cNvPr id="14" name="圆角矩形 13"/>
            <p:cNvSpPr/>
            <p:nvPr/>
          </p:nvSpPr>
          <p:spPr>
            <a:xfrm>
              <a:off x="2876" y="-4849"/>
              <a:ext cx="9993" cy="3221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446151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2.3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合理化建议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执行建议整改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92" name="文本框 1"/>
          <p:cNvSpPr txBox="1"/>
          <p:nvPr>
            <p:custDataLst>
              <p:tags r:id="rId1"/>
            </p:custDataLst>
          </p:nvPr>
        </p:nvSpPr>
        <p:spPr>
          <a:xfrm>
            <a:off x="325755" y="4680585"/>
            <a:ext cx="829564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页面路径：</a:t>
            </a:r>
            <a:r>
              <a:rPr lang="zh-CN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行政人事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行政管理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基地事项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合理化建议执行整改</a:t>
            </a:r>
            <a:endParaRPr lang="zh-CN" altLang="en-US" sz="1400">
              <a:solidFill>
                <a:srgbClr val="1C53D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33375" y="600710"/>
            <a:ext cx="6699250" cy="2177415"/>
            <a:chOff x="17755" y="0"/>
            <a:chExt cx="13754" cy="4470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03" y="0"/>
              <a:ext cx="13605" cy="4470"/>
            </a:xfrm>
            <a:prstGeom prst="rect">
              <a:avLst/>
            </a:prstGeom>
          </p:spPr>
        </p:pic>
        <p:sp>
          <p:nvSpPr>
            <p:cNvPr id="12" name="圆角矩形 11"/>
            <p:cNvSpPr/>
            <p:nvPr/>
          </p:nvSpPr>
          <p:spPr>
            <a:xfrm>
              <a:off x="17755" y="0"/>
              <a:ext cx="13754" cy="4470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703705" y="2620645"/>
            <a:ext cx="7064375" cy="1985010"/>
            <a:chOff x="18553" y="5296"/>
            <a:chExt cx="12954" cy="364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53" y="5296"/>
              <a:ext cx="12954" cy="3638"/>
            </a:xfrm>
            <a:prstGeom prst="rect">
              <a:avLst/>
            </a:prstGeom>
          </p:spPr>
        </p:pic>
        <p:sp>
          <p:nvSpPr>
            <p:cNvPr id="4" name="圆角矩形 3"/>
            <p:cNvSpPr/>
            <p:nvPr/>
          </p:nvSpPr>
          <p:spPr>
            <a:xfrm>
              <a:off x="18553" y="5296"/>
              <a:ext cx="12955" cy="3640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578231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2.4</a:t>
            </a:r>
            <a:r>
              <a:rPr lang="zh-CN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培训记录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结束培训可进行培训统计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92" name="文本框 1"/>
          <p:cNvSpPr txBox="1"/>
          <p:nvPr>
            <p:custDataLst>
              <p:tags r:id="rId1"/>
            </p:custDataLst>
          </p:nvPr>
        </p:nvSpPr>
        <p:spPr>
          <a:xfrm>
            <a:off x="325755" y="4308475"/>
            <a:ext cx="829564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页面路径：</a:t>
            </a:r>
            <a:r>
              <a:rPr lang="zh-CN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行政人事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行政管理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基地事项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合理化建议验收</a:t>
            </a:r>
            <a:endParaRPr lang="en-US" altLang="zh-CN" sz="1400">
              <a:solidFill>
                <a:srgbClr val="1C53D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20370" y="762000"/>
            <a:ext cx="7164070" cy="1755140"/>
            <a:chOff x="399" y="1285"/>
            <a:chExt cx="11282" cy="2764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9" y="1285"/>
              <a:ext cx="11282" cy="2740"/>
            </a:xfrm>
            <a:prstGeom prst="rect">
              <a:avLst/>
            </a:prstGeom>
          </p:spPr>
        </p:pic>
        <p:sp>
          <p:nvSpPr>
            <p:cNvPr id="8" name="圆角矩形 7"/>
            <p:cNvSpPr/>
            <p:nvPr/>
          </p:nvSpPr>
          <p:spPr>
            <a:xfrm>
              <a:off x="399" y="1285"/>
              <a:ext cx="11281" cy="2765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060190" y="2402840"/>
            <a:ext cx="2943860" cy="1729740"/>
            <a:chOff x="14962" y="2453"/>
            <a:chExt cx="4636" cy="2724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95" y="2453"/>
              <a:ext cx="4574" cy="2725"/>
            </a:xfrm>
            <a:prstGeom prst="rect">
              <a:avLst/>
            </a:prstGeom>
          </p:spPr>
        </p:pic>
        <p:sp>
          <p:nvSpPr>
            <p:cNvPr id="18" name="圆角矩形 17"/>
            <p:cNvSpPr/>
            <p:nvPr/>
          </p:nvSpPr>
          <p:spPr>
            <a:xfrm>
              <a:off x="14962" y="2453"/>
              <a:ext cx="4637" cy="2724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10870" y="2402205"/>
            <a:ext cx="2944495" cy="1729740"/>
            <a:chOff x="18142" y="213"/>
            <a:chExt cx="4637" cy="2724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143" y="214"/>
              <a:ext cx="4636" cy="2686"/>
            </a:xfrm>
            <a:prstGeom prst="rect">
              <a:avLst/>
            </a:prstGeom>
          </p:spPr>
        </p:pic>
        <p:sp>
          <p:nvSpPr>
            <p:cNvPr id="25" name="圆角矩形 24"/>
            <p:cNvSpPr/>
            <p:nvPr/>
          </p:nvSpPr>
          <p:spPr>
            <a:xfrm>
              <a:off x="18142" y="213"/>
              <a:ext cx="4637" cy="2724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一切以客户为中心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诚信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创新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高效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奋斗</a:t>
            </a:r>
            <a:endParaRPr kumimoji="0" lang="zh-CN" altLang="en-US" sz="1000" b="0" i="0" u="none" strike="noStrike" kern="1200" cap="none" spc="284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0400" y="3103624"/>
            <a:ext cx="50215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数智工厂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行政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合理化建议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使用手册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3592334"/>
            <a:ext cx="21386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版本号：数智工厂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3.11.0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894968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   间：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07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1637" y="2166263"/>
            <a:ext cx="40751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5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   END</a:t>
            </a:r>
            <a:endParaRPr lang="zh-CN" altLang="en-US" sz="5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40.81299212598424}"/>
</p:tagLst>
</file>

<file path=ppt/tags/tag2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40.81299212598424}"/>
</p:tagLst>
</file>

<file path=ppt/tags/tag3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40.81299212598424}"/>
</p:tagLst>
</file>

<file path=ppt/tags/tag4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40.81299212598424}"/>
</p:tagLst>
</file>

<file path=ppt/tags/tag5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54.5129921259842}"/>
</p:tagLst>
</file>

<file path=ppt/tags/tag6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54.5129921259842}"/>
</p:tagLst>
</file>

<file path=ppt/tags/tag7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54.5129921259842}"/>
</p:tagLst>
</file>

<file path=ppt/tags/tag8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54.5129921259842}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resource_record_key" val="{&quot;70&quot;:[3314133,3314135]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3600" b="1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928</Words>
  <Application>WPS 演示</Application>
  <PresentationFormat>全屏显示(16:9)</PresentationFormat>
  <Paragraphs>96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OPPOSans B</vt:lpstr>
      <vt:lpstr>Calibri</vt:lpstr>
      <vt:lpstr>等线</vt:lpstr>
      <vt:lpstr>Arial Unicode MS</vt:lpstr>
      <vt:lpstr>等线 Light</vt:lpstr>
      <vt:lpstr>Calibri Light</vt:lpstr>
      <vt:lpstr>The best part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J881</dc:creator>
  <cp:lastModifiedBy>Dylan￠</cp:lastModifiedBy>
  <cp:revision>75</cp:revision>
  <dcterms:created xsi:type="dcterms:W3CDTF">2025-02-10T02:33:00Z</dcterms:created>
  <dcterms:modified xsi:type="dcterms:W3CDTF">2025-07-31T05:49:57Z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80515C4FC39449FB97B0BACE7966BAC9_13</vt:lpwstr>
  </property>
  <property fmtid="{D5CDD505-2E9C-101B-9397-08002B2CF9AE}" pid="3" name="KSOProductBuildVer">
    <vt:lpwstr>2052-12.1.0.21915</vt:lpwstr>
  </property>
</Properties>
</file>