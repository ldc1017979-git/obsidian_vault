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95" r:id="rId6"/>
    <p:sldId id="306" r:id="rId7"/>
    <p:sldId id="291" r:id="rId8"/>
    <p:sldId id="311" r:id="rId9"/>
    <p:sldId id="316" r:id="rId10"/>
    <p:sldId id="322" r:id="rId11"/>
    <p:sldId id="313" r:id="rId12"/>
    <p:sldId id="305" r:id="rId13"/>
  </p:sldIdLst>
  <p:sldSz cx="9144000" cy="5143500" type="screen16x9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429"/>
    <a:srgbClr val="376FFF"/>
    <a:srgbClr val="17D594"/>
    <a:srgbClr val="1C53D9"/>
    <a:srgbClr val="FFC000"/>
    <a:srgbClr val="F7A3A3"/>
    <a:srgbClr val="FDE7E7"/>
    <a:srgbClr val="D95D61"/>
    <a:srgbClr val="DB696D"/>
    <a:srgbClr val="D44D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4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tags" Target="../tags/tag9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52775" y="1733014"/>
            <a:ext cx="832612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数智工厂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人事行政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培训计划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40650"/>
            <a:ext cx="20491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3.9.0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08427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10032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627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培训计划操作说明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32531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功能介绍及业务流程 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6569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功能介绍及流程说明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131"/>
          <p:cNvSpPr/>
          <p:nvPr/>
        </p:nvSpPr>
        <p:spPr>
          <a:xfrm>
            <a:off x="934085" y="892810"/>
            <a:ext cx="7294245" cy="3623945"/>
          </a:xfrm>
          <a:prstGeom prst="roundRect">
            <a:avLst>
              <a:gd name="adj" fmla="val 14025"/>
            </a:avLst>
          </a:prstGeom>
          <a:solidFill>
            <a:srgbClr val="1C53D9"/>
          </a:solidFill>
          <a:ln w="6350" cap="flat">
            <a:noFill/>
            <a:prstDash val="solid"/>
            <a:miter/>
          </a:ln>
          <a:effectLst>
            <a:outerShdw blurRad="532726" dist="199107" dir="5400000" algn="t" rotWithShape="0">
              <a:schemeClr val="accent1">
                <a:alpha val="16774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1450778" y="1043557"/>
            <a:ext cx="3336925" cy="307340"/>
            <a:chOff x="917011" y="1529802"/>
            <a:chExt cx="3336925" cy="307340"/>
          </a:xfrm>
        </p:grpSpPr>
        <p:sp>
          <p:nvSpPr>
            <p:cNvPr id="62" name="椭圆 61"/>
            <p:cNvSpPr/>
            <p:nvPr/>
          </p:nvSpPr>
          <p:spPr>
            <a:xfrm>
              <a:off x="917011" y="1580860"/>
              <a:ext cx="158750" cy="15875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202761" y="1529802"/>
              <a:ext cx="3051175" cy="3073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培训计划功能说明</a:t>
              </a:r>
              <a:endPara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1358900" y="1372235"/>
            <a:ext cx="6585585" cy="29711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支持新增</a:t>
            </a:r>
            <a:r>
              <a:rPr kumimoji="0" lang="en-US" altLang="zh-CN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入年度培训计划，灵活设置培训课题、培训人及详细培训安排，通过时间提醒功能，自动督促相关人员按时组织培训。同时，系统可通过关联培训记录全程追踪培训完成进度，实时记录培训人员参与情况与学习成果，并对培训数据进行多维度统计分析，后续</a:t>
            </a:r>
            <a:r>
              <a: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员工档案中同步展示培训记录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b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该功能通过系统化管理模式，简化培训计划制定与执行流程，既保障培训任务有序推进，又通过数据化追踪与统计，为组织优化培训体系、评估培训效果提供详实的数字化依据，助力提升培训管理效率与质量。</a:t>
            </a: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3267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培训计划业务流程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流程图: 可选过程 75"/>
          <p:cNvSpPr/>
          <p:nvPr/>
        </p:nvSpPr>
        <p:spPr>
          <a:xfrm>
            <a:off x="321945" y="2255520"/>
            <a:ext cx="1175385" cy="414020"/>
          </a:xfrm>
          <a:prstGeom prst="flowChartAlternateProcess">
            <a:avLst/>
          </a:prstGeom>
          <a:solidFill>
            <a:srgbClr val="376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新增培训计划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流程图: 过程 79"/>
          <p:cNvSpPr/>
          <p:nvPr/>
        </p:nvSpPr>
        <p:spPr>
          <a:xfrm>
            <a:off x="3486785" y="2252980"/>
            <a:ext cx="824865" cy="414020"/>
          </a:xfrm>
          <a:prstGeom prst="flowChartProcess">
            <a:avLst/>
          </a:prstGeom>
          <a:solidFill>
            <a:srgbClr val="FF74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组织培训</a:t>
            </a:r>
            <a:endParaRPr lang="zh-CN" altLang="en-US" sz="1200"/>
          </a:p>
        </p:txBody>
      </p:sp>
      <p:sp>
        <p:nvSpPr>
          <p:cNvPr id="81" name="流程图: 过程 80"/>
          <p:cNvSpPr/>
          <p:nvPr/>
        </p:nvSpPr>
        <p:spPr>
          <a:xfrm>
            <a:off x="6186170" y="2256790"/>
            <a:ext cx="824865" cy="414020"/>
          </a:xfrm>
          <a:prstGeom prst="flowChartProcess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培训记录</a:t>
            </a:r>
            <a:endParaRPr lang="zh-CN" altLang="en-US" sz="1200"/>
          </a:p>
        </p:txBody>
      </p:sp>
      <p:sp>
        <p:nvSpPr>
          <p:cNvPr id="82" name="流程图: 可选过程 81"/>
          <p:cNvSpPr/>
          <p:nvPr/>
        </p:nvSpPr>
        <p:spPr>
          <a:xfrm>
            <a:off x="7505065" y="2268220"/>
            <a:ext cx="887095" cy="414020"/>
          </a:xfrm>
          <a:prstGeom prst="flowChartAlternateProcess">
            <a:avLst/>
          </a:prstGeom>
          <a:solidFill>
            <a:srgbClr val="17D59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完成培训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3" name="肘形连接符 82"/>
          <p:cNvCxnSpPr>
            <a:stCxn id="76" idx="3"/>
            <a:endCxn id="80" idx="1"/>
          </p:cNvCxnSpPr>
          <p:nvPr/>
        </p:nvCxnSpPr>
        <p:spPr>
          <a:xfrm flipV="1">
            <a:off x="1497330" y="2459990"/>
            <a:ext cx="1989455" cy="2540"/>
          </a:xfrm>
          <a:prstGeom prst="bentConnector3">
            <a:avLst>
              <a:gd name="adj1" fmla="val 50016"/>
            </a:avLst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80" idx="3"/>
            <a:endCxn id="81" idx="1"/>
          </p:cNvCxnSpPr>
          <p:nvPr/>
        </p:nvCxnSpPr>
        <p:spPr>
          <a:xfrm>
            <a:off x="4311650" y="2459990"/>
            <a:ext cx="1874520" cy="3810"/>
          </a:xfrm>
          <a:prstGeom prst="straightConnector1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肘形连接符 90"/>
          <p:cNvCxnSpPr/>
          <p:nvPr/>
        </p:nvCxnSpPr>
        <p:spPr>
          <a:xfrm rot="16200000" flipH="1" flipV="1">
            <a:off x="3754120" y="-587375"/>
            <a:ext cx="3175" cy="5688965"/>
          </a:xfrm>
          <a:prstGeom prst="bentConnector3">
            <a:avLst>
              <a:gd name="adj1" fmla="val -7460000"/>
            </a:avLst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肘形连接符 91"/>
          <p:cNvCxnSpPr>
            <a:stCxn id="82" idx="2"/>
            <a:endCxn id="76" idx="2"/>
          </p:cNvCxnSpPr>
          <p:nvPr/>
        </p:nvCxnSpPr>
        <p:spPr>
          <a:xfrm rot="5400000" flipH="1">
            <a:off x="4423093" y="-843597"/>
            <a:ext cx="12700" cy="7038975"/>
          </a:xfrm>
          <a:prstGeom prst="bentConnector3">
            <a:avLst>
              <a:gd name="adj1" fmla="val -1872500"/>
            </a:avLst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stCxn id="81" idx="3"/>
            <a:endCxn id="82" idx="1"/>
          </p:cNvCxnSpPr>
          <p:nvPr/>
        </p:nvCxnSpPr>
        <p:spPr>
          <a:xfrm>
            <a:off x="7011035" y="2463800"/>
            <a:ext cx="494030" cy="11430"/>
          </a:xfrm>
          <a:prstGeom prst="straightConnector1">
            <a:avLst/>
          </a:prstGeom>
          <a:solidFill>
            <a:srgbClr val="1C53D9"/>
          </a:solidFill>
          <a:ln w="12700" cmpd="sng">
            <a:solidFill>
              <a:srgbClr val="376F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3131185" y="1902460"/>
            <a:ext cx="658495" cy="2235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互相关联</a:t>
            </a:r>
            <a:endParaRPr lang="zh-CN" altLang="en-US" sz="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311650" y="3049270"/>
            <a:ext cx="627380" cy="2108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同步状态</a:t>
            </a:r>
            <a:endParaRPr lang="zh-CN" altLang="en-US" sz="8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9030" y="2361565"/>
            <a:ext cx="491490" cy="2235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endParaRPr lang="zh-CN" altLang="en-US" sz="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213855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培训计划操作说明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3154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功能说明及业务流程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26663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配置培训类型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79095" y="720725"/>
            <a:ext cx="5543550" cy="2382520"/>
            <a:chOff x="597" y="1135"/>
            <a:chExt cx="8730" cy="375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97" y="1135"/>
              <a:ext cx="8730" cy="3752"/>
            </a:xfrm>
            <a:prstGeom prst="rect">
              <a:avLst/>
            </a:prstGeom>
          </p:spPr>
        </p:pic>
        <p:sp>
          <p:nvSpPr>
            <p:cNvPr id="25" name="圆角矩形 24"/>
            <p:cNvSpPr/>
            <p:nvPr/>
          </p:nvSpPr>
          <p:spPr>
            <a:xfrm>
              <a:off x="597" y="1135"/>
              <a:ext cx="8731" cy="3753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6392" name="文本框 1"/>
          <p:cNvSpPr txBox="1"/>
          <p:nvPr>
            <p:custDataLst>
              <p:tags r:id="rId2"/>
            </p:custDataLst>
          </p:nvPr>
        </p:nvSpPr>
        <p:spPr>
          <a:xfrm>
            <a:off x="325755" y="4420235"/>
            <a:ext cx="10402888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培训与发展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培训设置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74980" y="2731770"/>
            <a:ext cx="8290560" cy="1205230"/>
            <a:chOff x="748" y="4302"/>
            <a:chExt cx="13056" cy="189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8" y="4302"/>
              <a:ext cx="13057" cy="1898"/>
            </a:xfrm>
            <a:prstGeom prst="rect">
              <a:avLst/>
            </a:prstGeom>
          </p:spPr>
        </p:pic>
        <p:sp>
          <p:nvSpPr>
            <p:cNvPr id="9" name="圆角矩形 8"/>
            <p:cNvSpPr/>
            <p:nvPr/>
          </p:nvSpPr>
          <p:spPr>
            <a:xfrm>
              <a:off x="748" y="4302"/>
              <a:ext cx="13057" cy="1897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1375" y="3185795"/>
            <a:ext cx="5985510" cy="12331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8493" y="109401"/>
            <a:ext cx="36569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新增或导入</a:t>
            </a:r>
            <a:r>
              <a:rPr 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培训计划</a:t>
            </a:r>
            <a:endParaRPr lang="zh-CN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90855" y="720725"/>
            <a:ext cx="4808220" cy="2344420"/>
            <a:chOff x="593" y="1135"/>
            <a:chExt cx="7572" cy="3692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" y="1135"/>
              <a:ext cx="7544" cy="3693"/>
            </a:xfrm>
            <a:prstGeom prst="rect">
              <a:avLst/>
            </a:prstGeom>
          </p:spPr>
        </p:pic>
        <p:sp>
          <p:nvSpPr>
            <p:cNvPr id="13" name="圆角矩形 12"/>
            <p:cNvSpPr/>
            <p:nvPr/>
          </p:nvSpPr>
          <p:spPr>
            <a:xfrm>
              <a:off x="593" y="1135"/>
              <a:ext cx="7572" cy="3685"/>
            </a:xfrm>
            <a:prstGeom prst="roundRect">
              <a:avLst>
                <a:gd name="adj" fmla="val 3827"/>
              </a:avLst>
            </a:prstGeom>
            <a:noFill/>
            <a:ln w="444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4" name="文本框 1"/>
          <p:cNvSpPr txBox="1"/>
          <p:nvPr>
            <p:custDataLst>
              <p:tags r:id="rId3"/>
            </p:custDataLst>
          </p:nvPr>
        </p:nvSpPr>
        <p:spPr>
          <a:xfrm>
            <a:off x="325755" y="4420235"/>
            <a:ext cx="10402888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培训与发展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培训计划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111375" y="3188335"/>
            <a:ext cx="5985510" cy="1231900"/>
          </a:xfrm>
          <a:prstGeom prst="roundRect">
            <a:avLst>
              <a:gd name="adj" fmla="val 3827"/>
            </a:avLst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文本框 1"/>
          <p:cNvSpPr txBox="1"/>
          <p:nvPr>
            <p:custDataLst>
              <p:tags r:id="rId4"/>
            </p:custDataLst>
          </p:nvPr>
        </p:nvSpPr>
        <p:spPr>
          <a:xfrm>
            <a:off x="325755" y="4726940"/>
            <a:ext cx="10402888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r>
              <a:rPr lang="zh-CN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表格填写导入前须仔细阅读规则说明，按照模版格式填写，请勿删除模版表头</a:t>
            </a:r>
            <a:endParaRPr lang="zh-CN" altLang="zh-CN"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755" y="1040130"/>
            <a:ext cx="3709035" cy="2019935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4883785" y="1024255"/>
            <a:ext cx="3742055" cy="2048510"/>
          </a:xfrm>
          <a:prstGeom prst="roundRect">
            <a:avLst>
              <a:gd name="adj" fmla="val 3827"/>
            </a:avLst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55" y="720725"/>
            <a:ext cx="7423150" cy="36817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8493" y="109401"/>
            <a:ext cx="71031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培训计划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选择选择培训类型和方式创建计划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95655" y="720725"/>
            <a:ext cx="7422515" cy="3681730"/>
          </a:xfrm>
          <a:prstGeom prst="roundRect">
            <a:avLst>
              <a:gd name="adj" fmla="val 3827"/>
            </a:avLst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"/>
          <p:cNvSpPr txBox="1"/>
          <p:nvPr>
            <p:custDataLst>
              <p:tags r:id="rId2"/>
            </p:custDataLst>
          </p:nvPr>
        </p:nvSpPr>
        <p:spPr>
          <a:xfrm>
            <a:off x="325755" y="4519295"/>
            <a:ext cx="7892415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培训与发展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培训计划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新增培训计划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" y="1197610"/>
            <a:ext cx="8209915" cy="25203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8493" y="109401"/>
            <a:ext cx="64427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2.3</a:t>
            </a:r>
            <a:r>
              <a:rPr lang="zh-CN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待执行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状态下按计划组织培训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2" name="文本框 1"/>
          <p:cNvSpPr txBox="1"/>
          <p:nvPr>
            <p:custDataLst>
              <p:tags r:id="rId2"/>
            </p:custDataLst>
          </p:nvPr>
        </p:nvSpPr>
        <p:spPr>
          <a:xfrm>
            <a:off x="325755" y="4511675"/>
            <a:ext cx="829564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页面路径：</a:t>
            </a:r>
            <a:r>
              <a:rPr lang="zh-CN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行政人事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人事管理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培训与发展</a:t>
            </a:r>
            <a:r>
              <a:rPr lang="en-US" altLang="zh-CN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sz="1400">
                <a:solidFill>
                  <a:srgbClr val="1C53D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培训计划</a:t>
            </a:r>
            <a:endParaRPr lang="zh-CN" altLang="en-US" sz="1400">
              <a:solidFill>
                <a:srgbClr val="1C53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6090" y="1197610"/>
            <a:ext cx="8210550" cy="2520315"/>
          </a:xfrm>
          <a:prstGeom prst="roundRect">
            <a:avLst>
              <a:gd name="adj" fmla="val 3827"/>
            </a:avLst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53263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数智工厂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行政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三会召开记录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04914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版本号：数智工厂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3.9.0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   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2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3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4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40.81299212598424}"/>
</p:tagLst>
</file>

<file path=ppt/tags/tag5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6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7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8.xml><?xml version="1.0" encoding="utf-8"?>
<p:tagLst xmlns:p="http://schemas.openxmlformats.org/presentationml/2006/main">
  <p:tag name="KSO_WM_DIAGRAM_VIRTUALLY_FRAME" val="{&quot;height&quot;:204.37850393700785,&quot;left&quot;:294.93370078740156,&quot;top&quot;:95.28488188976378,&quot;width&quot;:354.5129921259842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resource_record_key" val="{&quot;70&quot;:[3314133,3314135]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797</Words>
  <Application>WPS 演示</Application>
  <PresentationFormat>全屏显示(16:9)</PresentationFormat>
  <Paragraphs>87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OPPOSans B</vt:lpstr>
      <vt:lpstr>Calibri</vt:lpstr>
      <vt:lpstr>等线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Dylan￠</cp:lastModifiedBy>
  <cp:revision>65</cp:revision>
  <dcterms:created xsi:type="dcterms:W3CDTF">2025-02-10T02:33:00Z</dcterms:created>
  <dcterms:modified xsi:type="dcterms:W3CDTF">2025-07-01T06:49:37Z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863C2F8C0E764A588AC6FE9A6AA3EA7A_13</vt:lpwstr>
  </property>
  <property fmtid="{D5CDD505-2E9C-101B-9397-08002B2CF9AE}" pid="3" name="KSOProductBuildVer">
    <vt:lpwstr>2052-12.1.0.21915</vt:lpwstr>
  </property>
</Properties>
</file>